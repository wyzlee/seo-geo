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6"/>
    <p:restoredTop sz="94637"/>
  </p:normalViewPr>
  <p:slideViewPr>
    <p:cSldViewPr snapToGrid="0" snapToObjects="1">
      <p:cViewPr>
        <p:scale>
          <a:sx n="109" d="100"/>
          <a:sy n="109" d="100"/>
        </p:scale>
        <p:origin x="1728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 — COUVER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spLocks noGrp="1"/>
          </p:cNvSpPr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b="1" cap="all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100" b="1" cap="all" dirty="0">
                <a:solidFill>
                  <a:srgbClr val="4F46E5"/>
                </a:solidFill>
                <a:latin typeface="Cabinet Grotesk"/>
              </a:rPr>
              <a:t>── CATEGORIE</a:t>
            </a:r>
          </a:p>
        </p:txBody>
      </p:sp>
      <p:sp>
        <p:nvSpPr>
          <p:cNvPr id="4" name="Titre"/>
          <p:cNvSpPr>
            <a:spLocks noGrp="1"/>
          </p:cNvSpPr>
          <p:nvPr>
            <p:ph type="ctrTitle"/>
          </p:nvPr>
        </p:nvSpPr>
        <p:spPr>
          <a:xfrm>
            <a:off x="1097280" y="164592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48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4800" b="1" cap="all" dirty="0">
                <a:solidFill>
                  <a:srgbClr val="1A1E2C"/>
                </a:solidFill>
                <a:latin typeface="Cabinet Grotesk"/>
              </a:rPr>
              <a:t>TITRE DE LA PRESENTATION</a:t>
            </a:r>
          </a:p>
        </p:txBody>
      </p:sp>
      <p:sp>
        <p:nvSpPr>
          <p:cNvPr id="5" name="Sous-titre"/>
          <p:cNvSpPr>
            <a:spLocks noGrp="1"/>
          </p:cNvSpPr>
          <p:nvPr>
            <p:ph type="subTitle"/>
          </p:nvPr>
        </p:nvSpPr>
        <p:spPr>
          <a:xfrm>
            <a:off x="1097280" y="3200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6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600" dirty="0">
                <a:solidFill>
                  <a:srgbClr val="5C6A7E"/>
                </a:solidFill>
                <a:latin typeface="Fira Code"/>
              </a:rPr>
              <a:t>Description ou sous-titre de votre presentation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 — TITRE + CONTENU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b="1" cap="all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000" b="1" cap="all" dirty="0">
                <a:solidFill>
                  <a:srgbClr val="4F46E5"/>
                </a:solidFill>
                <a:latin typeface="Cabinet Grotesk"/>
              </a:rPr>
              <a:t>── EYEBROW</a:t>
            </a:r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 DE LA SLIDE</a:t>
            </a:r>
          </a:p>
        </p:txBody>
      </p:sp>
      <p:sp>
        <p:nvSpPr>
          <p:cNvPr id="5" name="Contenu"/>
          <p:cNvSpPr>
            <a:spLocks noGrp="1"/>
          </p:cNvSpPr>
          <p:nvPr>
            <p:ph type="body" idx="1"/>
          </p:nvPr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200" dirty="0">
                <a:solidFill>
                  <a:srgbClr val="5C6A7E"/>
                </a:solidFill>
                <a:latin typeface="Fira Code"/>
              </a:rPr>
              <a:t>Contenu principal ici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  <p:sp>
        <p:nvSpPr>
          <p:cNvPr id="7" name="PageNum"/>
          <p:cNvSpPr>
            <a:spLocks noGrp="1"/>
          </p:cNvSpPr>
          <p:nvPr>
            <p:ph type="sldNum" idx="12"/>
          </p:nvPr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r">
              <a:defRPr lang="fr-FR" sz="800" dirty="0">
                <a:solidFill>
                  <a:srgbClr val="94A3B8"/>
                </a:solidFill>
                <a:latin typeface="Fira Code"/>
                <a:cs typeface="Fira Code"/>
              </a:defRPr>
            </a:lvl1pPr>
          </a:lstStyle>
          <a:p>
            <a:r>
              <a:rPr lang="fr-FR" sz="800" dirty="0">
                <a:solidFill>
                  <a:srgbClr val="94A3B8"/>
                </a:solidFill>
                <a:latin typeface="Fira Code"/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3 —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Numero"/>
          <p:cNvSpPr>
            <a:spLocks noGrp="1"/>
          </p:cNvSpPr>
          <p:nvPr>
            <p:ph type="body" idx="10"/>
          </p:nvPr>
        </p:nvSpPr>
        <p:spPr>
          <a:xfrm>
            <a:off x="731520" y="18288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5600" b="1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5600" b="1" dirty="0">
                <a:solidFill>
                  <a:srgbClr val="4F46E5"/>
                </a:solidFill>
                <a:latin typeface="Cabinet Grotesk"/>
              </a:rPr>
              <a:t>01</a:t>
            </a:r>
          </a:p>
        </p:txBody>
      </p:sp>
      <p:sp>
        <p:nvSpPr>
          <p:cNvPr id="4" name="Line"/>
          <p:cNvSpPr>
            <a:spLocks noGrp="1"/>
          </p:cNvSpPr>
          <p:nvPr/>
        </p:nvSpPr>
        <p:spPr>
          <a:xfrm>
            <a:off x="731520" y="3474720"/>
            <a:ext cx="2743200" cy="274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"/>
          <p:cNvSpPr>
            <a:spLocks noGrp="1"/>
          </p:cNvSpPr>
          <p:nvPr>
            <p:ph type="title"/>
          </p:nvPr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44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4400" b="1" cap="all" dirty="0">
                <a:solidFill>
                  <a:srgbClr val="1A1E2C"/>
                </a:solidFill>
                <a:latin typeface="Cabinet Grotesk"/>
              </a:rPr>
              <a:t>TITRE DE SECTION</a:t>
            </a:r>
          </a:p>
        </p:txBody>
      </p:sp>
      <p:sp>
        <p:nvSpPr>
          <p:cNvPr id="6" name="Description"/>
          <p:cNvSpPr>
            <a:spLocks noGrp="1"/>
          </p:cNvSpPr>
          <p:nvPr>
            <p:ph type="body" idx="1"/>
          </p:nvPr>
        </p:nvSpPr>
        <p:spPr>
          <a:xfrm>
            <a:off x="731520" y="48463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400" dirty="0">
                <a:solidFill>
                  <a:srgbClr val="5C6A7E"/>
                </a:solidFill>
                <a:latin typeface="Fira Code"/>
              </a:rPr>
              <a:t>Description de la section</a:t>
            </a:r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4 — DEUX COLONNES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 DEUX COLONNES</a:t>
            </a:r>
          </a:p>
        </p:txBody>
      </p:sp>
      <p:sp>
        <p:nvSpPr>
          <p:cNvPr id="4" name="CardGauche"/>
          <p:cNvSpPr>
            <a:spLocks noGrp="1"/>
          </p:cNvSpPr>
          <p:nvPr/>
        </p:nvSpPr>
        <p:spPr>
          <a:xfrm>
            <a:off x="73152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Gauche"/>
          <p:cNvSpPr>
            <a:spLocks noGrp="1"/>
          </p:cNvSpPr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cap="all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400" b="1" cap="all" dirty="0">
                <a:solidFill>
                  <a:srgbClr val="4F46E5"/>
                </a:solidFill>
                <a:latin typeface="Cabinet Grotesk"/>
              </a:rPr>
              <a:t>COLONNE GAUCHE</a:t>
            </a:r>
          </a:p>
        </p:txBody>
      </p:sp>
      <p:sp>
        <p:nvSpPr>
          <p:cNvPr id="6" name="ContenuGauche"/>
          <p:cNvSpPr>
            <a:spLocks noGrp="1"/>
          </p:cNvSpPr>
          <p:nvPr>
            <p:ph type="body" idx="1"/>
          </p:nvPr>
        </p:nvSpPr>
        <p:spPr>
          <a:xfrm>
            <a:off x="100584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100" dirty="0">
                <a:solidFill>
                  <a:srgbClr val="5C6A7E"/>
                </a:solidFill>
                <a:latin typeface="Fira Code"/>
              </a:rPr>
              <a:t>Contenu gauche</a:t>
            </a:r>
          </a:p>
        </p:txBody>
      </p:sp>
      <p:sp>
        <p:nvSpPr>
          <p:cNvPr id="7" name="CardDroite"/>
          <p:cNvSpPr>
            <a:spLocks noGrp="1"/>
          </p:cNvSpPr>
          <p:nvPr/>
        </p:nvSpPr>
        <p:spPr>
          <a:xfrm>
            <a:off x="640080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8" name="TitreDroite"/>
          <p:cNvSpPr>
            <a:spLocks noGrp="1"/>
          </p:cNvSpPr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cap="all" dirty="0">
                <a:solidFill>
                  <a:srgbClr val="059669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400" b="1" cap="all" dirty="0">
                <a:solidFill>
                  <a:srgbClr val="059669"/>
                </a:solidFill>
                <a:latin typeface="Cabinet Grotesk"/>
              </a:rPr>
              <a:t>COLONNE DROITE</a:t>
            </a:r>
          </a:p>
        </p:txBody>
      </p:sp>
      <p:sp>
        <p:nvSpPr>
          <p:cNvPr id="9" name="ContenuDroite"/>
          <p:cNvSpPr>
            <a:spLocks noGrp="1"/>
          </p:cNvSpPr>
          <p:nvPr>
            <p:ph type="body" idx="2"/>
          </p:nvPr>
        </p:nvSpPr>
        <p:spPr>
          <a:xfrm>
            <a:off x="667512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100" dirty="0">
                <a:solidFill>
                  <a:srgbClr val="5C6A7E"/>
                </a:solidFill>
                <a:latin typeface="Fira Code"/>
              </a:rPr>
              <a:t>Contenu droite</a:t>
            </a:r>
          </a:p>
        </p:txBody>
      </p:sp>
      <p:sp>
        <p:nvSpPr>
          <p:cNvPr id="10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 — COMPARAISON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 COMPARAISON</a:t>
            </a:r>
          </a:p>
        </p:txBody>
      </p:sp>
      <p:sp>
        <p:nvSpPr>
          <p:cNvPr id="4" name="CardAvant"/>
          <p:cNvSpPr>
            <a:spLocks noGrp="1"/>
          </p:cNvSpPr>
          <p:nvPr/>
        </p:nvSpPr>
        <p:spPr>
          <a:xfrm>
            <a:off x="73152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5" name="TitreAvant"/>
          <p:cNvSpPr>
            <a:spLocks noGrp="1"/>
          </p:cNvSpPr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500" b="1" cap="all" dirty="0">
                <a:solidFill>
                  <a:srgbClr val="EF4444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500" b="1" cap="all" dirty="0">
                <a:solidFill>
                  <a:srgbClr val="EF4444"/>
                </a:solidFill>
                <a:latin typeface="Cabinet Grotesk"/>
              </a:rPr>
              <a:t>AVANT / PROBLEME</a:t>
            </a:r>
          </a:p>
        </p:txBody>
      </p:sp>
      <p:sp>
        <p:nvSpPr>
          <p:cNvPr id="6" name="ContenuAvant"/>
          <p:cNvSpPr>
            <a:spLocks noGrp="1"/>
          </p:cNvSpPr>
          <p:nvPr>
            <p:ph type="body" idx="1"/>
          </p:nvPr>
        </p:nvSpPr>
        <p:spPr>
          <a:xfrm>
            <a:off x="100584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100" dirty="0">
                <a:solidFill>
                  <a:srgbClr val="5C6A7E"/>
                </a:solidFill>
                <a:latin typeface="Fira Code"/>
              </a:rPr>
              <a:t>Points negatifs ici</a:t>
            </a:r>
          </a:p>
        </p:txBody>
      </p:sp>
      <p:sp>
        <p:nvSpPr>
          <p:cNvPr id="7" name="CardApres"/>
          <p:cNvSpPr>
            <a:spLocks noGrp="1"/>
          </p:cNvSpPr>
          <p:nvPr/>
        </p:nvSpPr>
        <p:spPr>
          <a:xfrm>
            <a:off x="6400800" y="164592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8" name="TitreApres"/>
          <p:cNvSpPr>
            <a:spLocks noGrp="1"/>
          </p:cNvSpPr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500" b="1" cap="all" dirty="0">
                <a:solidFill>
                  <a:srgbClr val="059669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500" b="1" cap="all" dirty="0">
                <a:solidFill>
                  <a:srgbClr val="059669"/>
                </a:solidFill>
                <a:latin typeface="Cabinet Grotesk"/>
              </a:rPr>
              <a:t>APRES / SOLUTION</a:t>
            </a:r>
          </a:p>
        </p:txBody>
      </p:sp>
      <p:sp>
        <p:nvSpPr>
          <p:cNvPr id="9" name="ContenuApres"/>
          <p:cNvSpPr>
            <a:spLocks noGrp="1"/>
          </p:cNvSpPr>
          <p:nvPr>
            <p:ph type="body" idx="2"/>
          </p:nvPr>
        </p:nvSpPr>
        <p:spPr>
          <a:xfrm>
            <a:off x="6675120" y="2377440"/>
            <a:ext cx="4480560" cy="365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100" dirty="0">
                <a:solidFill>
                  <a:srgbClr val="5C6A7E"/>
                </a:solidFill>
                <a:latin typeface="Fira Code"/>
              </a:rPr>
              <a:t>Points positifs ici</a:t>
            </a:r>
          </a:p>
        </p:txBody>
      </p:sp>
      <p:sp>
        <p:nvSpPr>
          <p:cNvPr id="10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6 — TITRE SEUL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Eyebrow"/>
          <p:cNvSpPr>
            <a:spLocks noGrp="1"/>
          </p:cNvSpPr>
          <p:nvPr>
            <p:ph type="body" idx="10"/>
          </p:nvPr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b="1" cap="all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000" b="1" cap="all" dirty="0">
                <a:solidFill>
                  <a:srgbClr val="4F46E5"/>
                </a:solidFill>
                <a:latin typeface="Cabinet Grotesk"/>
              </a:rPr>
              <a:t>── EYEBROW</a:t>
            </a:r>
          </a:p>
        </p:txBody>
      </p:sp>
      <p:sp>
        <p:nvSpPr>
          <p:cNvPr id="4" name="Titre"/>
          <p:cNvSpPr>
            <a:spLocks noGrp="1"/>
          </p:cNvSpPr>
          <p:nvPr>
            <p:ph type="title"/>
          </p:nvPr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 DE LA SLIDE</a:t>
            </a:r>
          </a:p>
        </p:txBody>
      </p:sp>
      <p:sp>
        <p:nvSpPr>
          <p:cNvPr id="5" name="Sous-titre"/>
          <p:cNvSpPr>
            <a:spLocks noGrp="1"/>
          </p:cNvSpPr>
          <p:nvPr>
            <p:ph type="body" idx="1"/>
          </p:nvPr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3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300" dirty="0">
                <a:solidFill>
                  <a:srgbClr val="5C6A7E"/>
                </a:solidFill>
                <a:latin typeface="Fira Code"/>
              </a:rPr>
              <a:t>Sous-titre ou contexte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7 — VIERGE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8 — TEXTE + VISUEL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</a:t>
            </a:r>
          </a:p>
        </p:txBody>
      </p:sp>
      <p:sp>
        <p:nvSpPr>
          <p:cNvPr id="4" name="Texte"/>
          <p:cNvSpPr>
            <a:spLocks noGrp="1"/>
          </p:cNvSpPr>
          <p:nvPr>
            <p:ph type="body" idx="1"/>
          </p:nvPr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1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100" dirty="0">
                <a:solidFill>
                  <a:srgbClr val="5C6A7E"/>
                </a:solidFill>
                <a:latin typeface="Fira Code"/>
              </a:rPr>
              <a:t>Votre texte ici
Bullet points, descriptions, explications...</a:t>
            </a:r>
          </a:p>
        </p:txBody>
      </p:sp>
      <p:sp>
        <p:nvSpPr>
          <p:cNvPr id="5" name="Visuel"/>
          <p:cNvSpPr>
            <a:spLocks noGrp="1"/>
          </p:cNvSpPr>
          <p:nvPr>
            <p:ph type="pic" idx="2"/>
          </p:nvPr>
        </p:nvSpPr>
        <p:spPr>
          <a:xfrm>
            <a:off x="6400800" y="164592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8D0DA"/>
            </a:solidFill>
            <a:prstDash val="dash"/>
          </a:ln>
        </p:spPr>
        <p:txBody>
          <a:bodyPr wrap="square" lIns="91440" tIns="45720" rIns="91440" bIns="45720" anchor="ctr"/>
          <a:lstStyle>
            <a:lvl1pPr algn="ctr">
              <a:defRPr lang="fr-FR" sz="1200" dirty="0">
                <a:solidFill>
                  <a:srgbClr val="94A3B8"/>
                </a:solidFill>
                <a:latin typeface="Fira Code"/>
                <a:cs typeface="Fira Code"/>
              </a:defRPr>
            </a:lvl1pPr>
          </a:lstStyle>
          <a:p>
            <a:r>
              <a:rPr lang="fr-FR" sz="1200" dirty="0">
                <a:solidFill>
                  <a:srgbClr val="94A3B8"/>
                </a:solidFill>
                <a:latin typeface="Fira Code"/>
              </a:rPr>
              <a:t>IMAGE / SCREENSHOT</a:t>
            </a:r>
          </a:p>
        </p:txBody>
      </p:sp>
      <p:sp>
        <p:nvSpPr>
          <p:cNvPr id="6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09 — GRILLE CARTES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3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3200" b="1" cap="all" dirty="0">
                <a:solidFill>
                  <a:srgbClr val="1A1E2C"/>
                </a:solidFill>
                <a:latin typeface="Cabinet Grotesk"/>
              </a:rPr>
              <a:t>TITRE</a:t>
            </a:r>
          </a:p>
        </p:txBody>
      </p:sp>
      <p:sp>
        <p:nvSpPr>
          <p:cNvPr id="10" name="Card1"/>
          <p:cNvSpPr>
            <a:spLocks noGrp="1"/>
          </p:cNvSpPr>
          <p:nvPr/>
        </p:nvSpPr>
        <p:spPr>
          <a:xfrm>
            <a:off x="731520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1" name="Bar1"/>
          <p:cNvSpPr>
            <a:spLocks noGrp="1"/>
          </p:cNvSpPr>
          <p:nvPr/>
        </p:nvSpPr>
        <p:spPr>
          <a:xfrm>
            <a:off x="731520" y="1645920"/>
            <a:ext cx="347472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2" name="CardTitle1"/>
          <p:cNvSpPr>
            <a:spLocks noGrp="1"/>
          </p:cNvSpPr>
          <p:nvPr/>
        </p:nvSpPr>
        <p:spPr>
          <a:xfrm>
            <a:off x="1005840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4F46E5"/>
                </a:solidFill>
                <a:latin typeface="Cabinet Grotesk"/>
              </a:rPr>
              <a:t>TITRE CARTE 1</a:t>
            </a:r>
          </a:p>
        </p:txBody>
      </p:sp>
      <p:sp>
        <p:nvSpPr>
          <p:cNvPr id="13" name="CardDesc1"/>
          <p:cNvSpPr>
            <a:spLocks noGrp="1"/>
          </p:cNvSpPr>
          <p:nvPr/>
        </p:nvSpPr>
        <p:spPr>
          <a:xfrm>
            <a:off x="1005840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14" name="Card2"/>
          <p:cNvSpPr>
            <a:spLocks noGrp="1"/>
          </p:cNvSpPr>
          <p:nvPr/>
        </p:nvSpPr>
        <p:spPr>
          <a:xfrm>
            <a:off x="4480559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5" name="Bar2"/>
          <p:cNvSpPr>
            <a:spLocks noGrp="1"/>
          </p:cNvSpPr>
          <p:nvPr/>
        </p:nvSpPr>
        <p:spPr>
          <a:xfrm>
            <a:off x="4480559" y="1645920"/>
            <a:ext cx="3474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6" name="CardTitle2"/>
          <p:cNvSpPr>
            <a:spLocks noGrp="1"/>
          </p:cNvSpPr>
          <p:nvPr/>
        </p:nvSpPr>
        <p:spPr>
          <a:xfrm>
            <a:off x="4754879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2563EB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2563EB"/>
                </a:solidFill>
                <a:latin typeface="Cabinet Grotesk"/>
              </a:rPr>
              <a:t>TITRE CARTE 2</a:t>
            </a:r>
          </a:p>
        </p:txBody>
      </p:sp>
      <p:sp>
        <p:nvSpPr>
          <p:cNvPr id="17" name="CardDesc2"/>
          <p:cNvSpPr>
            <a:spLocks noGrp="1"/>
          </p:cNvSpPr>
          <p:nvPr/>
        </p:nvSpPr>
        <p:spPr>
          <a:xfrm>
            <a:off x="4754879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18" name="Card3"/>
          <p:cNvSpPr>
            <a:spLocks noGrp="1"/>
          </p:cNvSpPr>
          <p:nvPr/>
        </p:nvSpPr>
        <p:spPr>
          <a:xfrm>
            <a:off x="8229600" y="164592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19" name="Bar3"/>
          <p:cNvSpPr>
            <a:spLocks noGrp="1"/>
          </p:cNvSpPr>
          <p:nvPr/>
        </p:nvSpPr>
        <p:spPr>
          <a:xfrm>
            <a:off x="8229600" y="164592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0" name="CardTitle3"/>
          <p:cNvSpPr>
            <a:spLocks noGrp="1"/>
          </p:cNvSpPr>
          <p:nvPr/>
        </p:nvSpPr>
        <p:spPr>
          <a:xfrm>
            <a:off x="8503920" y="17830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059669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059669"/>
                </a:solidFill>
                <a:latin typeface="Cabinet Grotesk"/>
              </a:rPr>
              <a:t>TITRE CARTE 3</a:t>
            </a:r>
          </a:p>
        </p:txBody>
      </p:sp>
      <p:sp>
        <p:nvSpPr>
          <p:cNvPr id="21" name="CardDesc3"/>
          <p:cNvSpPr>
            <a:spLocks noGrp="1"/>
          </p:cNvSpPr>
          <p:nvPr/>
        </p:nvSpPr>
        <p:spPr>
          <a:xfrm>
            <a:off x="8503920" y="214884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22" name="Card4"/>
          <p:cNvSpPr>
            <a:spLocks noGrp="1"/>
          </p:cNvSpPr>
          <p:nvPr/>
        </p:nvSpPr>
        <p:spPr>
          <a:xfrm>
            <a:off x="731520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3" name="Bar4"/>
          <p:cNvSpPr>
            <a:spLocks noGrp="1"/>
          </p:cNvSpPr>
          <p:nvPr/>
        </p:nvSpPr>
        <p:spPr>
          <a:xfrm>
            <a:off x="731520" y="4023360"/>
            <a:ext cx="3474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4" name="CardTitle4"/>
          <p:cNvSpPr>
            <a:spLocks noGrp="1"/>
          </p:cNvSpPr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7C3AED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7C3AED"/>
                </a:solidFill>
                <a:latin typeface="Cabinet Grotesk"/>
              </a:rPr>
              <a:t>TITRE CARTE 4</a:t>
            </a:r>
          </a:p>
        </p:txBody>
      </p:sp>
      <p:sp>
        <p:nvSpPr>
          <p:cNvPr id="25" name="CardDesc4"/>
          <p:cNvSpPr>
            <a:spLocks noGrp="1"/>
          </p:cNvSpPr>
          <p:nvPr/>
        </p:nvSpPr>
        <p:spPr>
          <a:xfrm>
            <a:off x="1005840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26" name="Card5"/>
          <p:cNvSpPr>
            <a:spLocks noGrp="1"/>
          </p:cNvSpPr>
          <p:nvPr/>
        </p:nvSpPr>
        <p:spPr>
          <a:xfrm>
            <a:off x="4480559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7" name="Bar5"/>
          <p:cNvSpPr>
            <a:spLocks noGrp="1"/>
          </p:cNvSpPr>
          <p:nvPr/>
        </p:nvSpPr>
        <p:spPr>
          <a:xfrm>
            <a:off x="4480559" y="4023360"/>
            <a:ext cx="34747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28" name="CardTitle5"/>
          <p:cNvSpPr>
            <a:spLocks noGrp="1"/>
          </p:cNvSpPr>
          <p:nvPr/>
        </p:nvSpPr>
        <p:spPr>
          <a:xfrm>
            <a:off x="4754879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D97706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D97706"/>
                </a:solidFill>
                <a:latin typeface="Cabinet Grotesk"/>
              </a:rPr>
              <a:t>TITRE CARTE 5</a:t>
            </a:r>
          </a:p>
        </p:txBody>
      </p:sp>
      <p:sp>
        <p:nvSpPr>
          <p:cNvPr id="29" name="CardDesc5"/>
          <p:cNvSpPr>
            <a:spLocks noGrp="1"/>
          </p:cNvSpPr>
          <p:nvPr/>
        </p:nvSpPr>
        <p:spPr>
          <a:xfrm>
            <a:off x="4754879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30" name="Card6"/>
          <p:cNvSpPr>
            <a:spLocks noGrp="1"/>
          </p:cNvSpPr>
          <p:nvPr/>
        </p:nvSpPr>
        <p:spPr>
          <a:xfrm>
            <a:off x="8229600" y="4023360"/>
            <a:ext cx="3474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7000">
            <a:solidFill>
              <a:srgbClr val="DFE4EA"/>
            </a:solidFill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1" name="Bar6"/>
          <p:cNvSpPr>
            <a:spLocks noGrp="1"/>
          </p:cNvSpPr>
          <p:nvPr/>
        </p:nvSpPr>
        <p:spPr>
          <a:xfrm>
            <a:off x="8229600" y="4023360"/>
            <a:ext cx="34747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2" name="CardTitle6"/>
          <p:cNvSpPr>
            <a:spLocks noGrp="1"/>
          </p:cNvSpPr>
          <p:nvPr/>
        </p:nvSpPr>
        <p:spPr>
          <a:xfrm>
            <a:off x="8503920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b="1" cap="all" dirty="0">
                <a:solidFill>
                  <a:srgbClr val="EF4444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200" b="1" cap="all" dirty="0">
                <a:solidFill>
                  <a:srgbClr val="EF4444"/>
                </a:solidFill>
                <a:latin typeface="Cabinet Grotesk"/>
              </a:rPr>
              <a:t>TITRE CARTE 6</a:t>
            </a:r>
          </a:p>
        </p:txBody>
      </p:sp>
      <p:sp>
        <p:nvSpPr>
          <p:cNvPr id="33" name="CardDesc6"/>
          <p:cNvSpPr>
            <a:spLocks noGrp="1"/>
          </p:cNvSpPr>
          <p:nvPr/>
        </p:nvSpPr>
        <p:spPr>
          <a:xfrm>
            <a:off x="8503920" y="4526280"/>
            <a:ext cx="292608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0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000" dirty="0">
                <a:solidFill>
                  <a:srgbClr val="5C6A7E"/>
                </a:solidFill>
                <a:latin typeface="Fira Code"/>
              </a:rPr>
              <a:t>Description de la carte</a:t>
            </a:r>
          </a:p>
        </p:txBody>
      </p:sp>
      <p:sp>
        <p:nvSpPr>
          <p:cNvPr id="34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0 — CIT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>
            <a:spLocks noGrp="1"/>
          </p:cNvSpPr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QuoteBar"/>
          <p:cNvSpPr>
            <a:spLocks noGrp="1"/>
          </p:cNvSpPr>
          <p:nvPr/>
        </p:nvSpPr>
        <p:spPr>
          <a:xfrm>
            <a:off x="1371600" y="1828800"/>
            <a:ext cx="73152" cy="2743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4" name="Citation"/>
          <p:cNvSpPr>
            <a:spLocks noGrp="1"/>
          </p:cNvSpPr>
          <p:nvPr>
            <p:ph type="title"/>
          </p:nvPr>
        </p:nvSpPr>
        <p:spPr>
          <a:xfrm>
            <a:off x="1828800" y="16459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2800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2800" dirty="0">
                <a:solidFill>
                  <a:srgbClr val="1A1E2C"/>
                </a:solidFill>
                <a:latin typeface="Cabinet Grotesk"/>
              </a:rPr>
              <a:t>"Votre citation ici"</a:t>
            </a:r>
          </a:p>
        </p:txBody>
      </p:sp>
      <p:sp>
        <p:nvSpPr>
          <p:cNvPr id="5" name="Auteur"/>
          <p:cNvSpPr>
            <a:spLocks noGrp="1"/>
          </p:cNvSpPr>
          <p:nvPr>
            <p:ph type="body" idx="1"/>
          </p:nvPr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400" b="1" dirty="0">
                <a:solidFill>
                  <a:srgbClr val="4F46E5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400" b="1" dirty="0">
                <a:solidFill>
                  <a:srgbClr val="4F46E5"/>
                </a:solidFill>
                <a:latin typeface="Cabinet Grotesk"/>
              </a:rPr>
              <a:t>— Auteur, Titre</a:t>
            </a:r>
          </a:p>
        </p:txBody>
      </p:sp>
      <p:sp>
        <p:nvSpPr>
          <p:cNvPr id="6" name="Contexte"/>
          <p:cNvSpPr>
            <a:spLocks noGrp="1"/>
          </p:cNvSpPr>
          <p:nvPr>
            <p:ph type="body" idx="2"/>
          </p:nvPr>
        </p:nvSpPr>
        <p:spPr>
          <a:xfrm>
            <a:off x="1828800" y="46634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200" dirty="0">
                <a:solidFill>
                  <a:srgbClr val="5C6A7E"/>
                </a:solidFill>
                <a:latin typeface="Fira Code"/>
              </a:rPr>
              <a:t>Contexte ou explication</a:t>
            </a:r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1 — CLO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>
            <a:spLocks noGrp="1"/>
          </p:cNvSpPr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1A1E2C"/>
                </a:solidFill>
                <a:latin typeface="Fira Code"/>
                <a:cs typeface="Fira Code"/>
              </a:defRPr>
            </a:lvl1pPr>
          </a:lstStyle>
          <a:p>
            <a:endParaRPr/>
          </a:p>
        </p:txBody>
      </p:sp>
      <p:sp>
        <p:nvSpPr>
          <p:cNvPr id="3" name="Titre"/>
          <p:cNvSpPr>
            <a:spLocks noGrp="1"/>
          </p:cNvSpPr>
          <p:nvPr>
            <p:ph type="ctrTitle"/>
          </p:nvPr>
        </p:nvSpPr>
        <p:spPr>
          <a:xfrm>
            <a:off x="1097280" y="13716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5200" b="1" cap="all" dirty="0">
                <a:solidFill>
                  <a:srgbClr val="1A1E2C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5200" b="1" cap="all" dirty="0">
                <a:solidFill>
                  <a:srgbClr val="1A1E2C"/>
                </a:solidFill>
                <a:latin typeface="Cabinet Grotesk"/>
              </a:rPr>
              <a:t>MERCI</a:t>
            </a:r>
          </a:p>
        </p:txBody>
      </p:sp>
      <p:sp>
        <p:nvSpPr>
          <p:cNvPr id="4" name="Message"/>
          <p:cNvSpPr>
            <a:spLocks noGrp="1"/>
          </p:cNvSpPr>
          <p:nvPr>
            <p:ph type="subTitle"/>
          </p:nvPr>
        </p:nvSpPr>
        <p:spPr>
          <a:xfrm>
            <a:off x="1097280" y="29260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6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600" dirty="0">
                <a:solidFill>
                  <a:srgbClr val="5C6A7E"/>
                </a:solidFill>
                <a:latin typeface="Fira Code"/>
              </a:rPr>
              <a:t>Message de cloture ou prochaines etapes</a:t>
            </a:r>
          </a:p>
        </p:txBody>
      </p:sp>
      <p:sp>
        <p:nvSpPr>
          <p:cNvPr id="5" name="CTA"/>
          <p:cNvSpPr>
            <a:spLocks noGrp="1"/>
          </p:cNvSpPr>
          <p:nvPr/>
        </p:nvSpPr>
        <p:spPr>
          <a:xfrm>
            <a:off x="1097280" y="4389120"/>
            <a:ext cx="3657600" cy="54864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</p:spPr>
        <p:txBody>
          <a:bodyPr wrap="square" lIns="91440" tIns="45720" rIns="91440" bIns="45720" anchor="ctr"/>
          <a:lstStyle>
            <a:lvl1pPr algn="ctr">
              <a:defRPr lang="fr-FR" sz="1400" b="1" cap="all" dirty="0">
                <a:solidFill>
                  <a:srgbClr val="FFFFFF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1400" b="1" cap="all" dirty="0">
                <a:solidFill>
                  <a:srgbClr val="FFFFFF"/>
                </a:solidFill>
                <a:latin typeface="Cabinet Grotesk"/>
              </a:rPr>
              <a:t>APPEL A L'ACTION</a:t>
            </a:r>
          </a:p>
        </p:txBody>
      </p:sp>
      <p:sp>
        <p:nvSpPr>
          <p:cNvPr id="6" name="Contact"/>
          <p:cNvSpPr>
            <a:spLocks noGrp="1"/>
          </p:cNvSpPr>
          <p:nvPr>
            <p:ph type="body" idx="1"/>
          </p:nvPr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1200" dirty="0">
                <a:solidFill>
                  <a:srgbClr val="5C6A7E"/>
                </a:solidFill>
                <a:latin typeface="Fira Code"/>
                <a:cs typeface="Fira Code"/>
              </a:defRPr>
            </a:lvl1pPr>
          </a:lstStyle>
          <a:p>
            <a:r>
              <a:rPr lang="fr-FR" sz="1200" dirty="0">
                <a:solidFill>
                  <a:srgbClr val="5C6A7E"/>
                </a:solidFill>
                <a:latin typeface="Fira Code"/>
              </a:rPr>
              <a:t>email@exemple.com  |  site.com</a:t>
            </a:r>
          </a:p>
        </p:txBody>
      </p:sp>
      <p:sp>
        <p:nvSpPr>
          <p:cNvPr id="7" name="Footer"/>
          <p:cNvSpPr>
            <a:spLocks noGrp="1"/>
          </p:cNvSpPr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lvl1pPr algn="l">
              <a:defRPr lang="fr-FR" sz="800" b="1" dirty="0">
                <a:solidFill>
                  <a:srgbClr val="94A3B8"/>
                </a:solidFill>
                <a:latin typeface="Cabinet Grotesk"/>
                <a:cs typeface="Cabinet Grotesk"/>
              </a:defRPr>
            </a:lvl1pPr>
          </a:lstStyle>
          <a:p>
            <a:r>
              <a:rPr lang="fr-FR" sz="800" b="1" dirty="0">
                <a:solidFill>
                  <a:srgbClr val="94A3B8"/>
                </a:solidFill>
                <a:latin typeface="Cabinet Grotesk"/>
              </a:rPr>
              <a:t>WYZLEE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100" b="1">
                <a:solidFill>
                  <a:srgbClr val="4F46E5"/>
                </a:solidFill>
              </a:rPr>
              <a:t>WYZLEE — PRODUIT SEO-GEO — AVRIL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97280" y="1778000"/>
            <a:ext cx="9144000" cy="2032000"/>
          </a:xfrm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1A1E2C"/>
                </a:solidFill>
              </a:rPr>
              <a:t>SEO-GEO
Audit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/>
          </p:nvPr>
        </p:nvSpPr>
        <p:spPr>
          <a:xfrm>
            <a:off x="1097280" y="3937000"/>
            <a:ext cx="9144000" cy="635000"/>
          </a:xfrm>
        </p:spPr>
        <p:txBody>
          <a:bodyPr wrap="square"/>
          <a:lstStyle/>
          <a:p>
            <a:r>
              <a:rPr sz="1600" b="0">
                <a:solidFill>
                  <a:srgbClr val="5C6A7E"/>
                </a:solidFill>
              </a:rPr>
              <a:t>L'audit dual-signal — Google et les moteurs IA
(ChatGPT, Perplexity, Claude, Gemini, Copilot)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E2C"/>
                </a:solidFill>
              </a:rPr>
              <a:t>11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d'analyse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E2C"/>
                </a:solidFill>
              </a:rPr>
              <a:t>Score 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actionnable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E2C"/>
                </a:solidFill>
              </a:rPr>
              <a:t>&lt; 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par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39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E2C"/>
                </a:solidFill>
              </a:rPr>
              <a:t>White-label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5010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natif 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1A1E2C"/>
                </a:solidFill>
              </a:rPr>
              <a:t>Le marché
a basculé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520" y="5064030"/>
            <a:ext cx="7315200" cy="731520"/>
          </a:xfrm>
        </p:spPr>
        <p:txBody>
          <a:bodyPr wrap="square"/>
          <a:lstStyle/>
          <a:p>
            <a:r>
              <a:rPr sz="1400" b="0" dirty="0">
                <a:solidFill>
                  <a:srgbClr val="5C6A7E"/>
                </a:solidFill>
              </a:rPr>
              <a:t>40 % des recherches d'information démarrent sur une IA. Les outils SEO classiques n'ont pas suivi.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000" b="1">
                <a:solidFill>
                  <a:srgbClr val="4F46E5"/>
                </a:solidFill>
              </a:rPr>
              <a:t>CONTEXTE MARCHÉ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A1E2C"/>
                </a:solidFill>
              </a:rPr>
              <a:t>4 signaux qui changent la donne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C6A7E"/>
                </a:solidFill>
              </a:rPr>
              <a:t>40 %</a:t>
            </a:r>
            <a:r>
              <a:rPr sz="1200" b="0">
                <a:solidFill>
                  <a:srgbClr val="5C6A7E"/>
                </a:solidFill>
              </a:rPr>
              <a:t> des requêtes d'information démarrent sur une IA, pas sur Google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C6A7E"/>
                </a:solidFill>
              </a:rPr>
              <a:t>3,6×</a:t>
            </a:r>
            <a:r>
              <a:rPr sz="1200" b="0">
                <a:solidFill>
                  <a:srgbClr val="5C6A7E"/>
                </a:solidFill>
              </a:rPr>
              <a:t> plus de crawls GPTBot vs Googlebot sur les sites analysés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C6A7E"/>
                </a:solidFill>
              </a:rPr>
              <a:t>76 %</a:t>
            </a:r>
            <a:r>
              <a:rPr sz="1200" b="0">
                <a:solidFill>
                  <a:srgbClr val="5C6A7E"/>
                </a:solidFill>
              </a:rPr>
              <a:t> des citations IA portent sur des contenus de moins de 30 jours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C6A7E"/>
                </a:solidFill>
              </a:rPr>
              <a:t>3-6 mois</a:t>
            </a:r>
            <a:r>
              <a:rPr sz="1200" b="0">
                <a:solidFill>
                  <a:srgbClr val="5C6A7E"/>
                </a:solidFill>
              </a:rPr>
              <a:t> — demi-vie d'une citation IA, plus courte qu'en SEO classique</a:t>
            </a:r>
          </a:p>
          <a:p>
            <a:pPr>
              <a:spcAft>
                <a:spcPts val="400"/>
              </a:spcAft>
            </a:pPr>
            <a:endParaRPr sz="12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5C6A7E"/>
                </a:solidFill>
              </a:rPr>
              <a:t>Résultat :</a:t>
            </a:r>
            <a:r>
              <a:rPr sz="1200" b="0">
                <a:solidFill>
                  <a:srgbClr val="5C6A7E"/>
                </a:solidFill>
              </a:rPr>
              <a:t> votre client perd simultanément du trafic organique ET de la visibilité dans les réponses IA. Les deux s'effondrent ensemble.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1E2C"/>
                </a:solidFill>
              </a:rPr>
              <a:t>SEO seul ou SEO + GEO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Mesure :</a:t>
            </a:r>
            <a:r>
              <a:rPr sz="1100" b="0">
                <a:solidFill>
                  <a:srgbClr val="5C6A7E"/>
                </a:solidFill>
              </a:rPr>
              <a:t> positions Google uniquement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Ignore :</a:t>
            </a:r>
            <a:r>
              <a:rPr sz="1100" b="0">
                <a:solidFill>
                  <a:srgbClr val="5C6A7E"/>
                </a:solidFill>
              </a:rPr>
              <a:t> GPTBot, llms.txt, citations IA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Aveugle sur :</a:t>
            </a:r>
            <a:r>
              <a:rPr sz="1100" b="0">
                <a:solidFill>
                  <a:srgbClr val="5C6A7E"/>
                </a:solidFill>
              </a:rPr>
              <a:t> ChatGPT Search, Perplexity, Claude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Risque :</a:t>
            </a:r>
            <a:r>
              <a:rPr sz="1100" b="0">
                <a:solidFill>
                  <a:srgbClr val="5C6A7E"/>
                </a:solidFill>
              </a:rPr>
              <a:t> trafic organique en baisse sans explication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Outils :</a:t>
            </a:r>
            <a:r>
              <a:rPr sz="1100" b="0">
                <a:solidFill>
                  <a:srgbClr val="5C6A7E"/>
                </a:solidFill>
              </a:rPr>
              <a:t> Ahrefs, Semrush — conçus avant 2023</a:t>
            </a:r>
          </a:p>
          <a:p>
            <a:pPr>
              <a:spcAft>
                <a:spcPts val="400"/>
              </a:spcAft>
            </a:pPr>
            <a:endParaRPr sz="11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Résultat :</a:t>
            </a:r>
            <a:r>
              <a:rPr sz="1100" b="0">
                <a:solidFill>
                  <a:srgbClr val="5C6A7E"/>
                </a:solidFill>
              </a:rPr>
              <a:t> le client perd de la visibilité et ne sait pas pourquoi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Mesure :</a:t>
            </a:r>
            <a:r>
              <a:rPr sz="1100" b="0">
                <a:solidFill>
                  <a:srgbClr val="5C6A7E"/>
                </a:solidFill>
              </a:rPr>
              <a:t> Google ET les 5 grands moteurs IA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Analyse :</a:t>
            </a:r>
            <a:r>
              <a:rPr sz="1100" b="0">
                <a:solidFill>
                  <a:srgbClr val="5C6A7E"/>
                </a:solidFill>
              </a:rPr>
              <a:t> llms.txt, fichier robot IA, signaux de citation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Teste :</a:t>
            </a:r>
            <a:r>
              <a:rPr sz="1100" b="0">
                <a:solidFill>
                  <a:srgbClr val="5C6A7E"/>
                </a:solidFill>
              </a:rPr>
              <a:t> prompts réels sur ChatGPT, Perplexity, Claude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Identifie :</a:t>
            </a:r>
            <a:r>
              <a:rPr sz="1100" b="0">
                <a:solidFill>
                  <a:srgbClr val="5C6A7E"/>
                </a:solidFill>
              </a:rPr>
              <a:t> pourquoi une IA cite (ou ne cite pas) votre site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Rapport :</a:t>
            </a:r>
            <a:r>
              <a:rPr sz="1100" b="0">
                <a:solidFill>
                  <a:srgbClr val="5C6A7E"/>
                </a:solidFill>
              </a:rPr>
              <a:t> actionnable en français, livré en &lt; 10 min</a:t>
            </a:r>
          </a:p>
          <a:p>
            <a:pPr>
              <a:spcAft>
                <a:spcPts val="400"/>
              </a:spcAft>
            </a:pPr>
            <a:endParaRPr sz="11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5C6A7E"/>
                </a:solidFill>
              </a:rPr>
              <a:t>Résultat :</a:t>
            </a:r>
            <a:r>
              <a:rPr sz="1100" b="0">
                <a:solidFill>
                  <a:srgbClr val="5C6A7E"/>
                </a:solidFill>
              </a:rPr>
              <a:t> le client sait exactement quoi corriger pour remonter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AVANT — SEO CLASSIQUE SEULEMENT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APRÈS — AUDIT DUAL-SIGNAL SEO+GEO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1A1E2C"/>
                </a:solidFill>
              </a:rPr>
              <a:t>L'Audit en
11 dimensions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520" y="4986996"/>
            <a:ext cx="7315200" cy="731520"/>
          </a:xfrm>
        </p:spPr>
        <p:txBody>
          <a:bodyPr wrap="square"/>
          <a:lstStyle/>
          <a:p>
            <a:r>
              <a:rPr sz="1400" b="0" dirty="0">
                <a:solidFill>
                  <a:srgbClr val="5C6A7E"/>
                </a:solidFill>
              </a:rPr>
              <a:t>Score sur 100 pts · Rapport FR jargon-free · Moins de 10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r>
              <a:rPr sz="1000" b="1">
                <a:solidFill>
                  <a:srgbClr val="4F46E5"/>
                </a:solidFill>
              </a:rPr>
              <a:t>LES 11 DIMENSIONS D'ANALYSE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A1E2C"/>
                </a:solidFill>
              </a:rPr>
              <a:t>Ce qu'on mesure sur chaque site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01  Fondations techniques</a:t>
            </a:r>
            <a:r>
              <a:rPr sz="1000" b="0">
                <a:solidFill>
                  <a:srgbClr val="5C6A7E"/>
                </a:solidFill>
              </a:rPr>
              <a:t> 12 pts — URLs, HTTPS, robots.txt, sitemap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02  Données structurées</a:t>
            </a:r>
            <a:r>
              <a:rPr sz="1000" b="0">
                <a:solidFill>
                  <a:srgbClr val="5C6A7E"/>
                </a:solidFill>
              </a:rPr>
              <a:t> 15 pts — Schema.org, FAQ, Articles, Produits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03  Visibilité IA (GEO) ★</a:t>
            </a:r>
            <a:r>
              <a:rPr sz="1000" b="0">
                <a:solidFill>
                  <a:srgbClr val="5C6A7E"/>
                </a:solidFill>
              </a:rPr>
              <a:t> 18 pts — Tests ChatGPT/Perplexity, llms.txt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04  Entités &amp; notoriété</a:t>
            </a:r>
            <a:r>
              <a:rPr sz="1000" b="0">
                <a:solidFill>
                  <a:srgbClr val="5C6A7E"/>
                </a:solidFill>
              </a:rPr>
              <a:t> 10 pts — Knowledge Graph, Wikidata, mentions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05  E-E-A-T</a:t>
            </a:r>
            <a:r>
              <a:rPr sz="1000" b="0">
                <a:solidFill>
                  <a:srgbClr val="5C6A7E"/>
                </a:solidFill>
              </a:rPr>
              <a:t> 10 pts — Expertise, Autorité, Confiance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06  Fraîcheur</a:t>
            </a:r>
            <a:r>
              <a:rPr sz="1000" b="0">
                <a:solidFill>
                  <a:srgbClr val="5C6A7E"/>
                </a:solidFill>
              </a:rPr>
              <a:t> 8 pts  — 76 % citations IA = contenus &lt; 30j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07  International</a:t>
            </a:r>
            <a:r>
              <a:rPr sz="1000" b="0">
                <a:solidFill>
                  <a:srgbClr val="5C6A7E"/>
                </a:solidFill>
              </a:rPr>
              <a:t> 8 pts  — Hreflang, multilingue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08  Performance web</a:t>
            </a:r>
            <a:r>
              <a:rPr sz="1000" b="0">
                <a:solidFill>
                  <a:srgbClr val="5C6A7E"/>
                </a:solidFill>
              </a:rPr>
              <a:t> 8 pts  — Core Web Vitals, INP, LCP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09  Couverture thématique</a:t>
            </a:r>
            <a:r>
              <a:rPr sz="1000" b="0">
                <a:solidFill>
                  <a:srgbClr val="5C6A7E"/>
                </a:solidFill>
              </a:rPr>
              <a:t> 6 pts  — Pillar pages, clusters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10  Erreurs communes</a:t>
            </a:r>
            <a:r>
              <a:rPr sz="1000" b="0">
                <a:solidFill>
                  <a:srgbClr val="5C6A7E"/>
                </a:solidFill>
              </a:rPr>
              <a:t> 5 pts  — Cannibalisation, thin content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11  Synthèse</a:t>
            </a:r>
            <a:r>
              <a:rPr sz="1000" b="0">
                <a:solidFill>
                  <a:srgbClr val="5C6A7E"/>
                </a:solidFill>
              </a:rPr>
              <a:t> →      — Plan d'action priorisé bénéfice/effort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1E2C"/>
                </a:solidFill>
              </a:rPr>
              <a:t>La dimension la plus importante — GEO (18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Tests de prompts réels :</a:t>
            </a:r>
            <a:r>
              <a:rPr sz="1000" b="0">
                <a:solidFill>
                  <a:srgbClr val="5C6A7E"/>
                </a:solidFill>
              </a:rPr>
              <a:t> on demande à ChatGPT, Perplexity, Claude et Gemini de répondre aux requêtes de votre domaine. Apparaissez-vous dans les réponses ?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Fichier llms.txt :</a:t>
            </a:r>
            <a:r>
              <a:rPr sz="1000" b="0">
                <a:solidFill>
                  <a:srgbClr val="5C6A7E"/>
                </a:solidFill>
              </a:rPr>
              <a:t> l'équivalent du robots.txt pour les IA. Présent ? Correctement configuré ?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Analyse des citations :</a:t>
            </a:r>
            <a:r>
              <a:rPr sz="1000" b="0">
                <a:solidFill>
                  <a:srgbClr val="5C6A7E"/>
                </a:solidFill>
              </a:rPr>
              <a:t> votre marque est-elle citée par les sources que les IA utilisent — Wikipedia, Wikidata, presse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18 pts sur 100 :</a:t>
            </a:r>
            <a:r>
              <a:rPr sz="1000" b="0">
                <a:solidFill>
                  <a:srgbClr val="5C6A7E"/>
                </a:solidFill>
              </a:rPr>
              <a:t> c'est le poids le plus élevé de l'audit — plus que les fondations techniques (12) ou la performance (8).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Impact direct :</a:t>
            </a:r>
            <a:r>
              <a:rPr sz="1000" b="0">
                <a:solidFill>
                  <a:srgbClr val="5C6A7E"/>
                </a:solidFill>
              </a:rPr>
              <a:t> un site bien balisé pour les IA obtient +132 % de taux de citation dans les réponses GEO.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Fraîcheur :</a:t>
            </a:r>
            <a:r>
              <a:rPr sz="1000" b="0">
                <a:solidFill>
                  <a:srgbClr val="5C6A7E"/>
                </a:solidFill>
              </a:rPr>
              <a:t> 76 % des citations IA portent sur des contenus publiés dans les 30 derniers jours. La fraîcheur est un signal de ranking IA aussi important que l'autorité.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8670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CE QUE ÇA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8670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POURQUOI C'EST PRIORITAIRE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1E2C"/>
                </a:solidFill>
              </a:rPr>
              <a:t>Le rapport livré au client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Score sur 100 :</a:t>
            </a:r>
            <a:r>
              <a:rPr sz="1000" b="0">
                <a:solidFill>
                  <a:srgbClr val="5C6A7E"/>
                </a:solidFill>
              </a:rPr>
              <a:t> un chiffre unique, clair, comparable d'un audit à l'autre. Le client comprend immédiatement où il en est.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Détail par dimension :</a:t>
            </a:r>
            <a:r>
              <a:rPr sz="1000" b="0">
                <a:solidFill>
                  <a:srgbClr val="5C6A7E"/>
                </a:solidFill>
              </a:rPr>
              <a:t> score de chaque phase avec les findings les plus impactants.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Synthèse — 11ème dimension :</a:t>
            </a:r>
            <a:r>
              <a:rPr sz="1000" b="0">
                <a:solidFill>
                  <a:srgbClr val="5C6A7E"/>
                </a:solidFill>
              </a:rPr>
              <a:t> les 5 recommandations les plus impactantes, classées par rapport bénéfice / effort. Ce que le client doit faire en premier.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Stats sourcées :</a:t>
            </a:r>
            <a:r>
              <a:rPr sz="1000" b="0">
                <a:solidFill>
                  <a:srgbClr val="5C6A7E"/>
                </a:solidFill>
              </a:rPr>
              <a:t> chaque chiffre cité est traçable à une source consultée et datée.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Lien web partageable :</a:t>
            </a:r>
            <a:r>
              <a:rPr sz="1000" b="0">
                <a:solidFill>
                  <a:srgbClr val="5C6A7E"/>
                </a:solidFill>
              </a:rPr>
              <a:t> URL tokenisée, durée configurable. Le client clique, il voit le rapport depuis n'importe quel device.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Export PDF :</a:t>
            </a:r>
            <a:r>
              <a:rPr sz="1000" b="0">
                <a:solidFill>
                  <a:srgbClr val="5C6A7E"/>
                </a:solidFill>
              </a:rPr>
              <a:t> qualité impression, idéal pour réunions client et archivages contractuels.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White-label natif :</a:t>
            </a:r>
            <a:r>
              <a:rPr sz="1000" b="0">
                <a:solidFill>
                  <a:srgbClr val="5C6A7E"/>
                </a:solidFill>
              </a:rPr>
              <a:t> votre logo (ou celui de votre client). Zéro mention SEO-GEO dans le document livré.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Français, sans jargon :</a:t>
            </a:r>
            <a:r>
              <a:rPr sz="1000" b="0">
                <a:solidFill>
                  <a:srgbClr val="5C6A7E"/>
                </a:solidFill>
              </a:rPr>
              <a:t> rédigé pour être compris par un décideur non-technique. Pas de termes SEO obscurs.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153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LE SCORE &amp; LE 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5153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46E5"/>
                </a:solidFill>
              </a:rPr>
              <a:t>LE FORMAT DE LIVRAISON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1E2C"/>
                </a:solidFill>
              </a:rPr>
              <a:t>Deux façons de lancer un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Comment :</a:t>
            </a:r>
            <a:r>
              <a:rPr sz="1000" b="0">
                <a:solidFill>
                  <a:srgbClr val="5C6A7E"/>
                </a:solidFill>
              </a:rPr>
              <a:t> entrez l'URL d'un site en production. L'audit analyse le site tel que les moteurs le voient.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Couvre :</a:t>
            </a:r>
            <a:r>
              <a:rPr sz="1000" b="0">
                <a:solidFill>
                  <a:srgbClr val="5C6A7E"/>
                </a:solidFill>
              </a:rPr>
              <a:t> contenus visibles, performances réelles, signaux IA en live, robots.txt, sitemap.xml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Idéal pour :</a:t>
            </a:r>
            <a:r>
              <a:rPr sz="1000" b="0">
                <a:solidFill>
                  <a:srgbClr val="5C6A7E"/>
                </a:solidFill>
              </a:rPr>
              <a:t> audits clients sur sites existants, suivis trimestriels, prospection commerciale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Arrivez en RDV avec un rapport sous le nom du prospect.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Comment :</a:t>
            </a:r>
            <a:r>
              <a:rPr sz="1000" b="0">
                <a:solidFill>
                  <a:srgbClr val="5C6A7E"/>
                </a:solidFill>
              </a:rPr>
              <a:t> uploadez un ZIP ou connectez un repo GitHub. L'audit analyse le code avant mise en ligne.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Couvre :</a:t>
            </a:r>
            <a:r>
              <a:rPr sz="1000" b="0">
                <a:solidFill>
                  <a:srgbClr val="5C6A7E"/>
                </a:solidFill>
              </a:rPr>
              <a:t> structure des composants, balisage statique, schémas JSON-LD, configuration SEO dans le code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Idéal pour :</a:t>
            </a:r>
            <a:r>
              <a:rPr sz="1000" b="0">
                <a:solidFill>
                  <a:srgbClr val="5C6A7E"/>
                </a:solidFill>
              </a:rPr>
              <a:t> studios dev qui livrent un site optimisé dès le départ, audits de refonte, pre-launch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Livrez un asset mieux foutu à votre client — avec le rapport d'audit en preuve.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9842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URL LIVE  (V1 — DISPONIBLE)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9842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CODE SOURCE  (V2 — PROCHAINEMENT)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>
            <a:normAutofit lnSpcReduction="10000"/>
          </a:bodyPr>
          <a:lstStyle/>
          <a:p>
            <a:r>
              <a:rPr sz="560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sz="4400" b="1">
                <a:solidFill>
                  <a:srgbClr val="1A1E2C"/>
                </a:solidFill>
              </a:rPr>
              <a:t>Pour qui
et combien 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520" y="5115949"/>
            <a:ext cx="7315200" cy="731520"/>
          </a:xfrm>
        </p:spPr>
        <p:txBody>
          <a:bodyPr wrap="square"/>
          <a:lstStyle/>
          <a:p>
            <a:r>
              <a:rPr sz="1400" b="0" dirty="0">
                <a:solidFill>
                  <a:srgbClr val="5C6A7E"/>
                </a:solidFill>
              </a:rPr>
              <a:t>3 </a:t>
            </a:r>
            <a:r>
              <a:rPr sz="1400" b="0" dirty="0" err="1">
                <a:solidFill>
                  <a:srgbClr val="5C6A7E"/>
                </a:solidFill>
              </a:rPr>
              <a:t>personas</a:t>
            </a:r>
            <a:r>
              <a:rPr sz="1400" b="0" dirty="0">
                <a:solidFill>
                  <a:srgbClr val="5C6A7E"/>
                </a:solidFill>
              </a:rPr>
              <a:t> · 6 packages · De 1 500 € à 15 000 €/mois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1A1E2C"/>
                </a:solidFill>
              </a:rPr>
              <a:t>Pour qui et combien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</a:rPr>
              <a:t>Agence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5-30 pers. Veut ajouter une offre GEO sans recruter. Offre : SEO+GEO Add-on (+25 %) ou White-label (-40 %).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Directeur marketing B2B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Trafic organique qui stagne. Veut comprendre pourquoi ses concurrents apparaissent dans Perplexity. Offre : Tripwire 1 500-3 500 € → Retainer.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Studio dev / Freelance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9456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Livre des sites clients. Veut auditer avant release (V2 code source). Offre : Tripwire par projet ou White-label.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</a:rPr>
              <a:t>Tripwire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1 500–3 500 € one-shot. Audit 11 dimensions + debrief 1h. Livraison 3-5 jours. Taux de conversion cible &gt; 35 %.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Retainer Starter/Growth/Enterprise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2 500–15 000 €/mois. Mensuel ou trimestriel. Starter 3 mois / Growth 6 mois / Enterprise 12 mois. Tracking continu inclus en Growth+.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White-label &amp; Add-on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572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6A7E"/>
                </a:solidFill>
              </a:rPr>
              <a:t>White-label : wholesale -40 à -60 %. SEO+GEO Add-on : +25 % sur retainer SEO existant. Exécution sous la marque de l'agence partenaire.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 b="1">
                <a:solidFill>
                  <a:srgbClr val="1A1E2C"/>
                </a:solidFill>
              </a:rPr>
              <a:t>Agency Tool V1 → Self-serve SaaS V2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Dashboard interne :</a:t>
            </a:r>
            <a:r>
              <a:rPr sz="1000" b="0">
                <a:solidFill>
                  <a:srgbClr val="5C6A7E"/>
                </a:solidFill>
              </a:rPr>
              <a:t> Olivier lance et suit les audits. Le client reçoit uniquement le rapport.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Audit URL live :</a:t>
            </a:r>
            <a:r>
              <a:rPr sz="1000" b="0">
                <a:solidFill>
                  <a:srgbClr val="5C6A7E"/>
                </a:solidFill>
              </a:rPr>
              <a:t> 11 dimensions, score 100 pts, &lt; 10 min.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Rapport white-label :</a:t>
            </a:r>
            <a:r>
              <a:rPr sz="1000" b="0">
                <a:solidFill>
                  <a:srgbClr val="5C6A7E"/>
                </a:solidFill>
              </a:rPr>
              <a:t> web partageable + PDF, en français.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Pricing à la prestation :</a:t>
            </a:r>
            <a:r>
              <a:rPr sz="1000" b="0">
                <a:solidFill>
                  <a:srgbClr val="5C6A7E"/>
                </a:solidFill>
              </a:rPr>
              <a:t> tripwire + retainer.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A7E"/>
                </a:solidFill>
              </a:rPr>
              <a:t>Objectif 90 jours :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10+ audits livrés à de vrais clients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3+ conversions tripwire → retainer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CSAT ≥ 4.3/5 sur les rapports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Signup public :</a:t>
            </a:r>
            <a:r>
              <a:rPr sz="1000" b="0">
                <a:solidFill>
                  <a:srgbClr val="5C6A7E"/>
                </a:solidFill>
              </a:rPr>
              <a:t> inscription directe, onboarding automatisé.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Dashboard client :</a:t>
            </a:r>
            <a:r>
              <a:rPr sz="1000" b="0">
                <a:solidFill>
                  <a:srgbClr val="5C6A7E"/>
                </a:solidFill>
              </a:rPr>
              <a:t> historique audits, comparaison, KPI continu.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Plans Stripe :</a:t>
            </a:r>
            <a:r>
              <a:rPr sz="1000" b="0">
                <a:solidFill>
                  <a:srgbClr val="5C6A7E"/>
                </a:solidFill>
              </a:rPr>
              <a:t> Free (1/mois) · Pro (10/mois) · Agence (illimité).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Code source :</a:t>
            </a:r>
            <a:r>
              <a:rPr sz="1000" b="0">
                <a:solidFill>
                  <a:srgbClr val="5C6A7E"/>
                </a:solidFill>
              </a:rPr>
              <a:t> upload ZIP + GitHub connect, audit pre-launch.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Alertes :</a:t>
            </a:r>
            <a:r>
              <a:rPr sz="1000" b="0">
                <a:solidFill>
                  <a:srgbClr val="5C6A7E"/>
                </a:solidFill>
              </a:rPr>
              <a:t> notification automatique si score régressé.</a:t>
            </a:r>
          </a:p>
          <a:p>
            <a:pPr>
              <a:spcAft>
                <a:spcPts val="400"/>
              </a:spcAft>
            </a:pPr>
            <a:endParaRPr sz="1000" b="0">
              <a:solidFill>
                <a:srgbClr val="5C6A7E"/>
              </a:solidFill>
            </a:endParaRP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C6A7E"/>
                </a:solidFill>
              </a:rPr>
              <a:t>Métriques V2 :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≥ 50 signups/mois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C6A7E"/>
                </a:solidFill>
              </a:rPr>
              <a:t>→</a:t>
            </a:r>
            <a:r>
              <a:rPr sz="1000" b="0">
                <a:solidFill>
                  <a:srgbClr val="5C6A7E"/>
                </a:solidFill>
              </a:rPr>
              <a:t> ≥ 10 % conversion Free →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9842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4F46E5"/>
                </a:solidFill>
              </a:rPr>
              <a:t>MAINTENANT — V1 AGENCY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9842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PROCHAINEMENT — V2 SELF-SERVE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05000"/>
            <a:ext cx="9144000" cy="1651000"/>
          </a:xfrm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1A1E2C"/>
                </a:solidFill>
              </a:rPr>
              <a:t>Prêt à lancer
le premier audit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097280" y="3683000"/>
            <a:ext cx="9144000" cy="698500"/>
          </a:xfrm>
        </p:spPr>
        <p:txBody>
          <a:bodyPr wrap="square"/>
          <a:lstStyle/>
          <a:p>
            <a:r>
              <a:rPr sz="1600" b="0">
                <a:solidFill>
                  <a:srgbClr val="5C6A7E"/>
                </a:solidFill>
              </a:rPr>
              <a:t>Entrez une URL. Obtenez un rapport complet en moins de 10 minutes.
White-label, en français, livrable client immédiatement.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CF1C95D-6CB2-9C49-1B64-859B3CE1F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yzlee">
      <a:dk1>
        <a:srgbClr val="1A1E2C"/>
      </a:dk1>
      <a:lt1>
        <a:srgbClr val="FFFFFF"/>
      </a:lt1>
      <a:dk2>
        <a:srgbClr val="3D4A5E"/>
      </a:dk2>
      <a:lt2>
        <a:srgbClr val="F4F6F9"/>
      </a:lt2>
      <a:accent1>
        <a:srgbClr val="4F46E5"/>
      </a:accent1>
      <a:accent2>
        <a:srgbClr val="7C3AED"/>
      </a:accent2>
      <a:accent3>
        <a:srgbClr val="059669"/>
      </a:accent3>
      <a:accent4>
        <a:srgbClr val="D97706"/>
      </a:accent4>
      <a:accent5>
        <a:srgbClr val="2563EB"/>
      </a:accent5>
      <a:accent6>
        <a:srgbClr val="EF4444"/>
      </a:accent6>
      <a:hlink>
        <a:srgbClr val="4F46E5"/>
      </a:hlink>
      <a:folHlink>
        <a:srgbClr val="7C3AED"/>
      </a:folHlink>
    </a:clrScheme>
    <a:fontScheme name="Wyzlee">
      <a:majorFont>
        <a:latin typeface="Cabinet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ra Cod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2FC386-AF6A-AF45-BFC2-97DB81BA97C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d4a4ac6-ade5-42ce-8487-a3c5245294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1369</Words>
  <Application>Microsoft Macintosh PowerPoint</Application>
  <PresentationFormat>Grand écran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Cabinet Grotesk</vt:lpstr>
      <vt:lpstr>Fira Code</vt:lpstr>
      <vt:lpstr>Office Theme</vt:lpstr>
      <vt:lpstr>SEO-GEO
Audit</vt:lpstr>
      <vt:lpstr>Le marché
a basculé</vt:lpstr>
      <vt:lpstr>4 signaux qui changent la donne</vt:lpstr>
      <vt:lpstr>SEO seul ou SEO + GEO ?</vt:lpstr>
      <vt:lpstr>L'Audit en
11 dimensions</vt:lpstr>
      <vt:lpstr>Ce qu'on mesure sur chaque site</vt:lpstr>
      <vt:lpstr>La dimension la plus importante — GEO (18 pts)</vt:lpstr>
      <vt:lpstr>Le rapport livré au client</vt:lpstr>
      <vt:lpstr>Deux façons de lancer un audit</vt:lpstr>
      <vt:lpstr>Pour qui
et combien ?</vt:lpstr>
      <vt:lpstr>Pour qui et combien ?</vt:lpstr>
      <vt:lpstr>Agency Tool V1 → Self-serve SaaS V2</vt:lpstr>
      <vt:lpstr>Prêt à lancer
le premier audit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PODIO Olivier (TEAMWORK)</cp:lastModifiedBy>
  <cp:revision>2</cp:revision>
  <dcterms:created xsi:type="dcterms:W3CDTF">2013-01-27T09:14:16Z</dcterms:created>
  <dcterms:modified xsi:type="dcterms:W3CDTF">2026-04-18T16:33:10Z</dcterms:modified>
  <cp:category/>
</cp:coreProperties>
</file>