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70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818"/>
    <p:restoredTop sz="94637"/>
  </p:normalViewPr>
  <p:slideViewPr>
    <p:cSldViewPr snapToGrid="0" snapToObjects="1">
      <p:cViewPr>
        <p:scale>
          <a:sx n="64" d="100"/>
          <a:sy n="64" d="100"/>
        </p:scale>
        <p:origin x="8" y="20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01 — COUVERTURE"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>
            <a:spLocks noGrp="1"/>
          </p:cNvSpPr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Eyebrow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b="1" cap="all" dirty="0">
                <a:solidFill>
                  <a:srgbClr val="6366F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Titre"/>
          <p:cNvSpPr>
            <a:spLocks noGrp="1"/>
          </p:cNvSpPr>
          <p:nvPr>
            <p:ph type="ctrTitle"/>
          </p:nvPr>
        </p:nvSpPr>
        <p:spPr>
          <a:xfrm>
            <a:off x="1097280" y="1645920"/>
            <a:ext cx="914400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48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5" name="Sous-titre"/>
          <p:cNvSpPr>
            <a:spLocks noGrp="1"/>
          </p:cNvSpPr>
          <p:nvPr>
            <p:ph type="subTitle"/>
          </p:nvPr>
        </p:nvSpPr>
        <p:spPr>
          <a:xfrm>
            <a:off x="1097280" y="32004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6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02 — TITRE + CONTENU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Eyebrow"/>
          <p:cNvSpPr>
            <a:spLocks noGrp="1"/>
          </p:cNvSpPr>
          <p:nvPr>
            <p:ph type="body" idx="10"/>
          </p:nvPr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b="1" cap="all" dirty="0">
                <a:solidFill>
                  <a:srgbClr val="6366F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5" name="Contenu"/>
          <p:cNvSpPr>
            <a:spLocks noGrp="1"/>
          </p:cNvSpPr>
          <p:nvPr>
            <p:ph type="body" idx="1"/>
          </p:nvPr>
        </p:nvSpPr>
        <p:spPr>
          <a:xfrm>
            <a:off x="731520" y="2011680"/>
            <a:ext cx="10515600" cy="4389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7" name="PageNum"/>
          <p:cNvSpPr>
            <a:spLocks noGrp="1"/>
          </p:cNvSpPr>
          <p:nvPr>
            <p:ph type="sldNum" idx="12"/>
          </p:nvPr>
        </p:nvSpPr>
        <p:spPr>
          <a:xfrm>
            <a:off x="10515600" y="644652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r">
              <a:defRPr lang="fr-FR" sz="800" dirty="0">
                <a:solidFill>
                  <a:srgbClr val="5A7A9A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03 — SECTION"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Numero"/>
          <p:cNvSpPr>
            <a:spLocks noGrp="1"/>
          </p:cNvSpPr>
          <p:nvPr>
            <p:ph type="body" idx="10"/>
          </p:nvPr>
        </p:nvSpPr>
        <p:spPr>
          <a:xfrm>
            <a:off x="731520" y="1828800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5600" b="1" dirty="0">
                <a:solidFill>
                  <a:srgbClr val="6366F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Line"/>
          <p:cNvSpPr>
            <a:spLocks noGrp="1"/>
          </p:cNvSpPr>
          <p:nvPr/>
        </p:nvSpPr>
        <p:spPr>
          <a:xfrm>
            <a:off x="731520" y="3474720"/>
            <a:ext cx="274320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Titre"/>
          <p:cNvSpPr>
            <a:spLocks noGrp="1"/>
          </p:cNvSpPr>
          <p:nvPr>
            <p:ph type="title"/>
          </p:nvPr>
        </p:nvSpPr>
        <p:spPr>
          <a:xfrm>
            <a:off x="731520" y="3657600"/>
            <a:ext cx="9144000" cy="10972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44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6" name="Description"/>
          <p:cNvSpPr>
            <a:spLocks noGrp="1"/>
          </p:cNvSpPr>
          <p:nvPr>
            <p:ph type="body" idx="1"/>
          </p:nvPr>
        </p:nvSpPr>
        <p:spPr>
          <a:xfrm>
            <a:off x="731520" y="484632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7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04 — DEUX COLONNES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CardGauche"/>
          <p:cNvSpPr>
            <a:spLocks noGrp="1"/>
          </p:cNvSpPr>
          <p:nvPr/>
        </p:nvSpPr>
        <p:spPr>
          <a:xfrm>
            <a:off x="73152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TitreGauche"/>
          <p:cNvSpPr>
            <a:spLocks noGrp="1"/>
          </p:cNvSpPr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b="1" cap="all" dirty="0">
                <a:solidFill>
                  <a:srgbClr val="6366F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6" name="ContenuGauche"/>
          <p:cNvSpPr>
            <a:spLocks noGrp="1"/>
          </p:cNvSpPr>
          <p:nvPr>
            <p:ph type="body" idx="1"/>
          </p:nvPr>
        </p:nvSpPr>
        <p:spPr>
          <a:xfrm>
            <a:off x="100584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7" name="CardDroite"/>
          <p:cNvSpPr>
            <a:spLocks noGrp="1"/>
          </p:cNvSpPr>
          <p:nvPr/>
        </p:nvSpPr>
        <p:spPr>
          <a:xfrm>
            <a:off x="640080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8" name="TitreDroite"/>
          <p:cNvSpPr>
            <a:spLocks noGrp="1"/>
          </p:cNvSpPr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b="1" cap="all" dirty="0">
                <a:solidFill>
                  <a:srgbClr val="10B98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9" name="ContenuDroite"/>
          <p:cNvSpPr>
            <a:spLocks noGrp="1"/>
          </p:cNvSpPr>
          <p:nvPr>
            <p:ph type="body" idx="2"/>
          </p:nvPr>
        </p:nvSpPr>
        <p:spPr>
          <a:xfrm>
            <a:off x="667512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0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05 — COMPARAISON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CardAvant"/>
          <p:cNvSpPr>
            <a:spLocks noGrp="1"/>
          </p:cNvSpPr>
          <p:nvPr/>
        </p:nvSpPr>
        <p:spPr>
          <a:xfrm>
            <a:off x="73152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TitreAvant"/>
          <p:cNvSpPr>
            <a:spLocks noGrp="1"/>
          </p:cNvSpPr>
          <p:nvPr/>
        </p:nvSpPr>
        <p:spPr>
          <a:xfrm>
            <a:off x="100584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500" b="1" cap="all" dirty="0">
                <a:solidFill>
                  <a:srgbClr val="EF444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6" name="ContenuAvant"/>
          <p:cNvSpPr>
            <a:spLocks noGrp="1"/>
          </p:cNvSpPr>
          <p:nvPr>
            <p:ph type="body" idx="1"/>
          </p:nvPr>
        </p:nvSpPr>
        <p:spPr>
          <a:xfrm>
            <a:off x="100584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7" name="CardApres"/>
          <p:cNvSpPr>
            <a:spLocks noGrp="1"/>
          </p:cNvSpPr>
          <p:nvPr/>
        </p:nvSpPr>
        <p:spPr>
          <a:xfrm>
            <a:off x="6400800" y="1645920"/>
            <a:ext cx="5029200" cy="4754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8" name="TitreApres"/>
          <p:cNvSpPr>
            <a:spLocks noGrp="1"/>
          </p:cNvSpPr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500" b="1" cap="all" dirty="0">
                <a:solidFill>
                  <a:srgbClr val="10B98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9" name="ContenuApres"/>
          <p:cNvSpPr>
            <a:spLocks noGrp="1"/>
          </p:cNvSpPr>
          <p:nvPr>
            <p:ph type="body" idx="2"/>
          </p:nvPr>
        </p:nvSpPr>
        <p:spPr>
          <a:xfrm>
            <a:off x="6675120" y="2377440"/>
            <a:ext cx="4480560" cy="3657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0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06 — TITRE SEUL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Eyebrow"/>
          <p:cNvSpPr>
            <a:spLocks noGrp="1"/>
          </p:cNvSpPr>
          <p:nvPr>
            <p:ph type="body" idx="10"/>
          </p:nvPr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b="1" cap="all" dirty="0">
                <a:solidFill>
                  <a:srgbClr val="6366F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5" name="Sous-titre"/>
          <p:cNvSpPr>
            <a:spLocks noGrp="1"/>
          </p:cNvSpPr>
          <p:nvPr>
            <p:ph type="body" idx="1"/>
          </p:nvPr>
        </p:nvSpPr>
        <p:spPr>
          <a:xfrm>
            <a:off x="731520" y="1645920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3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07 — VIERGE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08 — TEXTE + VISUEL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Texte"/>
          <p:cNvSpPr>
            <a:spLocks noGrp="1"/>
          </p:cNvSpPr>
          <p:nvPr>
            <p:ph type="body" idx="1"/>
          </p:nvPr>
        </p:nvSpPr>
        <p:spPr>
          <a:xfrm>
            <a:off x="731520" y="1645920"/>
            <a:ext cx="5029200" cy="457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1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Visuel"/>
          <p:cNvSpPr>
            <a:spLocks noGrp="1"/>
          </p:cNvSpPr>
          <p:nvPr>
            <p:ph type="pic" idx="2"/>
          </p:nvPr>
        </p:nvSpPr>
        <p:spPr>
          <a:xfrm>
            <a:off x="6400800" y="1645920"/>
            <a:ext cx="5029200" cy="4572000"/>
          </a:xfrm>
          <a:prstGeom prst="roundRect">
            <a:avLst>
              <a:gd name="adj" fmla="val 2000"/>
            </a:avLst>
          </a:prstGeom>
          <a:solidFill>
            <a:srgbClr val="1C2535"/>
          </a:solidFill>
          <a:ln w="9525">
            <a:solidFill>
              <a:srgbClr val="243044"/>
            </a:solidFill>
            <a:prstDash val="dash"/>
          </a:ln>
        </p:spPr>
        <p:txBody>
          <a:bodyPr wrap="square" lIns="91440" tIns="45720" rIns="91440" bIns="45720" anchor="ctr"/>
          <a:lstStyle>
            <a:lvl1pPr algn="ctr">
              <a:defRPr lang="fr-FR" sz="1200" dirty="0">
                <a:solidFill>
                  <a:srgbClr val="5A7A9A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6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09 — GRILLE CARTES"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32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10" name="Card1"/>
          <p:cNvSpPr>
            <a:spLocks noGrp="1"/>
          </p:cNvSpPr>
          <p:nvPr/>
        </p:nvSpPr>
        <p:spPr>
          <a:xfrm>
            <a:off x="731520" y="164592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1" name="Bar1"/>
          <p:cNvSpPr>
            <a:spLocks noGrp="1"/>
          </p:cNvSpPr>
          <p:nvPr/>
        </p:nvSpPr>
        <p:spPr>
          <a:xfrm>
            <a:off x="731520" y="1645920"/>
            <a:ext cx="34747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2" name="CardTitle1"/>
          <p:cNvSpPr>
            <a:spLocks noGrp="1"/>
          </p:cNvSpPr>
          <p:nvPr/>
        </p:nvSpPr>
        <p:spPr>
          <a:xfrm>
            <a:off x="1005840" y="178308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6366F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13" name="CardDesc1"/>
          <p:cNvSpPr>
            <a:spLocks noGrp="1"/>
          </p:cNvSpPr>
          <p:nvPr/>
        </p:nvSpPr>
        <p:spPr>
          <a:xfrm>
            <a:off x="1005840" y="214884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4" name="Card2"/>
          <p:cNvSpPr>
            <a:spLocks noGrp="1"/>
          </p:cNvSpPr>
          <p:nvPr/>
        </p:nvSpPr>
        <p:spPr>
          <a:xfrm>
            <a:off x="4480559" y="164592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5" name="Bar2"/>
          <p:cNvSpPr>
            <a:spLocks noGrp="1"/>
          </p:cNvSpPr>
          <p:nvPr/>
        </p:nvSpPr>
        <p:spPr>
          <a:xfrm>
            <a:off x="4480559" y="1645920"/>
            <a:ext cx="3474720" cy="36576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6" name="CardTitle2"/>
          <p:cNvSpPr>
            <a:spLocks noGrp="1"/>
          </p:cNvSpPr>
          <p:nvPr/>
        </p:nvSpPr>
        <p:spPr>
          <a:xfrm>
            <a:off x="4754879" y="178308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3882F6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17" name="CardDesc2"/>
          <p:cNvSpPr>
            <a:spLocks noGrp="1"/>
          </p:cNvSpPr>
          <p:nvPr/>
        </p:nvSpPr>
        <p:spPr>
          <a:xfrm>
            <a:off x="4754879" y="214884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8" name="Card3"/>
          <p:cNvSpPr>
            <a:spLocks noGrp="1"/>
          </p:cNvSpPr>
          <p:nvPr/>
        </p:nvSpPr>
        <p:spPr>
          <a:xfrm>
            <a:off x="8229600" y="164592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19" name="Bar3"/>
          <p:cNvSpPr>
            <a:spLocks noGrp="1"/>
          </p:cNvSpPr>
          <p:nvPr/>
        </p:nvSpPr>
        <p:spPr>
          <a:xfrm>
            <a:off x="8229600" y="1645920"/>
            <a:ext cx="347472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0" name="CardTitle3"/>
          <p:cNvSpPr>
            <a:spLocks noGrp="1"/>
          </p:cNvSpPr>
          <p:nvPr/>
        </p:nvSpPr>
        <p:spPr>
          <a:xfrm>
            <a:off x="8503920" y="178308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10B98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21" name="CardDesc3"/>
          <p:cNvSpPr>
            <a:spLocks noGrp="1"/>
          </p:cNvSpPr>
          <p:nvPr/>
        </p:nvSpPr>
        <p:spPr>
          <a:xfrm>
            <a:off x="8503920" y="214884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2" name="Card4"/>
          <p:cNvSpPr>
            <a:spLocks noGrp="1"/>
          </p:cNvSpPr>
          <p:nvPr/>
        </p:nvSpPr>
        <p:spPr>
          <a:xfrm>
            <a:off x="731520" y="402336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3" name="Bar4"/>
          <p:cNvSpPr>
            <a:spLocks noGrp="1"/>
          </p:cNvSpPr>
          <p:nvPr/>
        </p:nvSpPr>
        <p:spPr>
          <a:xfrm>
            <a:off x="731520" y="4023360"/>
            <a:ext cx="34747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4" name="CardTitle4"/>
          <p:cNvSpPr>
            <a:spLocks noGrp="1"/>
          </p:cNvSpPr>
          <p:nvPr/>
        </p:nvSpPr>
        <p:spPr>
          <a:xfrm>
            <a:off x="1005840" y="416052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8B5CF6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25" name="CardDesc4"/>
          <p:cNvSpPr>
            <a:spLocks noGrp="1"/>
          </p:cNvSpPr>
          <p:nvPr/>
        </p:nvSpPr>
        <p:spPr>
          <a:xfrm>
            <a:off x="1005840" y="452628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6" name="Card5"/>
          <p:cNvSpPr>
            <a:spLocks noGrp="1"/>
          </p:cNvSpPr>
          <p:nvPr/>
        </p:nvSpPr>
        <p:spPr>
          <a:xfrm>
            <a:off x="4480559" y="402336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7" name="Bar5"/>
          <p:cNvSpPr>
            <a:spLocks noGrp="1"/>
          </p:cNvSpPr>
          <p:nvPr/>
        </p:nvSpPr>
        <p:spPr>
          <a:xfrm>
            <a:off x="4480559" y="4023360"/>
            <a:ext cx="34747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28" name="CardTitle5"/>
          <p:cNvSpPr>
            <a:spLocks noGrp="1"/>
          </p:cNvSpPr>
          <p:nvPr/>
        </p:nvSpPr>
        <p:spPr>
          <a:xfrm>
            <a:off x="4754879" y="416052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F59E0B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29" name="CardDesc5"/>
          <p:cNvSpPr>
            <a:spLocks noGrp="1"/>
          </p:cNvSpPr>
          <p:nvPr/>
        </p:nvSpPr>
        <p:spPr>
          <a:xfrm>
            <a:off x="4754879" y="452628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0" name="Card6"/>
          <p:cNvSpPr>
            <a:spLocks noGrp="1"/>
          </p:cNvSpPr>
          <p:nvPr/>
        </p:nvSpPr>
        <p:spPr>
          <a:xfrm>
            <a:off x="8229600" y="4023360"/>
            <a:ext cx="3474720" cy="219456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7000">
            <a:solidFill>
              <a:srgbClr val="1C2535"/>
            </a:solidFill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1" name="Bar6"/>
          <p:cNvSpPr>
            <a:spLocks noGrp="1"/>
          </p:cNvSpPr>
          <p:nvPr/>
        </p:nvSpPr>
        <p:spPr>
          <a:xfrm>
            <a:off x="8229600" y="4023360"/>
            <a:ext cx="347472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2" name="CardTitle6"/>
          <p:cNvSpPr>
            <a:spLocks noGrp="1"/>
          </p:cNvSpPr>
          <p:nvPr/>
        </p:nvSpPr>
        <p:spPr>
          <a:xfrm>
            <a:off x="8503920" y="4160520"/>
            <a:ext cx="29260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b="1" cap="all" dirty="0">
                <a:solidFill>
                  <a:srgbClr val="EF444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33" name="CardDesc6"/>
          <p:cNvSpPr>
            <a:spLocks noGrp="1"/>
          </p:cNvSpPr>
          <p:nvPr/>
        </p:nvSpPr>
        <p:spPr>
          <a:xfrm>
            <a:off x="8503920" y="4526280"/>
            <a:ext cx="2926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0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4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10 — CITATION"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>
            <a:spLocks noGrp="1"/>
          </p:cNvSpPr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QuoteBar"/>
          <p:cNvSpPr>
            <a:spLocks noGrp="1"/>
          </p:cNvSpPr>
          <p:nvPr/>
        </p:nvSpPr>
        <p:spPr>
          <a:xfrm>
            <a:off x="1371600" y="1828800"/>
            <a:ext cx="73152" cy="2743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4" name="Citation"/>
          <p:cNvSpPr>
            <a:spLocks noGrp="1"/>
          </p:cNvSpPr>
          <p:nvPr>
            <p:ph type="title"/>
          </p:nvPr>
        </p:nvSpPr>
        <p:spPr>
          <a:xfrm>
            <a:off x="1828800" y="1645920"/>
            <a:ext cx="8229600" cy="228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2800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5" name="Auteur"/>
          <p:cNvSpPr>
            <a:spLocks noGrp="1"/>
          </p:cNvSpPr>
          <p:nvPr>
            <p:ph type="body" idx="1"/>
          </p:nvPr>
        </p:nvSpPr>
        <p:spPr>
          <a:xfrm>
            <a:off x="1828800" y="41148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400" b="1" dirty="0">
                <a:solidFill>
                  <a:srgbClr val="6366F1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6" name="Contexte"/>
          <p:cNvSpPr>
            <a:spLocks noGrp="1"/>
          </p:cNvSpPr>
          <p:nvPr>
            <p:ph type="body" idx="2"/>
          </p:nvPr>
        </p:nvSpPr>
        <p:spPr>
          <a:xfrm>
            <a:off x="1828800" y="466344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7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11 — CLOTURE"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>
            <a:spLocks noGrp="1"/>
          </p:cNvSpPr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1A1E2C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3" name="Titre"/>
          <p:cNvSpPr>
            <a:spLocks noGrp="1"/>
          </p:cNvSpPr>
          <p:nvPr>
            <p:ph type="ctrTitle"/>
          </p:nvPr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5200" b="1" cap="all" dirty="0">
                <a:solidFill>
                  <a:srgbClr val="E2EAF4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4" name="Message"/>
          <p:cNvSpPr>
            <a:spLocks noGrp="1"/>
          </p:cNvSpPr>
          <p:nvPr>
            <p:ph type="subTitle"/>
          </p:nvPr>
        </p:nvSpPr>
        <p:spPr>
          <a:xfrm>
            <a:off x="1097280" y="292608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6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5" name="CTA"/>
          <p:cNvSpPr>
            <a:spLocks noGrp="1"/>
          </p:cNvSpPr>
          <p:nvPr/>
        </p:nvSpPr>
        <p:spPr>
          <a:xfrm>
            <a:off x="1097280" y="4389120"/>
            <a:ext cx="3657600" cy="548640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</p:spPr>
        <p:txBody>
          <a:bodyPr wrap="square" lIns="91440" tIns="45720" rIns="91440" bIns="45720" anchor="ctr"/>
          <a:lstStyle>
            <a:lvl1pPr algn="ctr">
              <a:defRPr lang="fr-FR" sz="1400" b="1" cap="all" dirty="0">
                <a:solidFill>
                  <a:srgbClr val="FFFFFF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  <p:sp>
        <p:nvSpPr>
          <p:cNvPr id="6" name="Contact"/>
          <p:cNvSpPr>
            <a:spLocks noGrp="1"/>
          </p:cNvSpPr>
          <p:nvPr>
            <p:ph type="body" idx="1"/>
          </p:nvPr>
        </p:nvSpPr>
        <p:spPr>
          <a:xfrm>
            <a:off x="1097280" y="5303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1200" dirty="0">
                <a:solidFill>
                  <a:srgbClr val="8AA0B8"/>
                </a:solidFill>
                <a:latin typeface="Fira Code"/>
                <a:cs typeface="Fira Code"/>
              </a:defRPr>
            </a:lvl1pPr>
          </a:lstStyle>
          <a:p>
            <a:endParaRPr/>
          </a:p>
        </p:txBody>
      </p:sp>
      <p:sp>
        <p:nvSpPr>
          <p:cNvPr id="7" name="Footer"/>
          <p:cNvSpPr>
            <a:spLocks noGrp="1"/>
          </p:cNvSpPr>
          <p:nvPr/>
        </p:nvSpPr>
        <p:spPr>
          <a:xfrm>
            <a:off x="731520" y="6446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>
            <a:lvl1pPr algn="l">
              <a:defRPr lang="fr-FR" sz="800" b="1" dirty="0">
                <a:solidFill>
                  <a:srgbClr val="5A7A9A"/>
                </a:solidFill>
                <a:latin typeface="Cabinet Grotesk"/>
                <a:cs typeface="Cabinet Grotesk"/>
              </a:defRPr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/>
          <a:lstStyle/>
          <a:p>
            <a:r>
              <a:rPr sz="1100" b="1">
                <a:solidFill>
                  <a:srgbClr val="6366F1"/>
                </a:solidFill>
              </a:rPr>
              <a:t>WYZLEE — PRODUIT SEO-GEO — AVRIL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>
            <a:normAutofit fontScale="90000"/>
          </a:bodyPr>
          <a:lstStyle/>
          <a:p>
            <a:r>
              <a:rPr sz="4800" b="1">
                <a:solidFill>
                  <a:srgbClr val="E2EAF4"/>
                </a:solidFill>
              </a:rPr>
              <a:t>SEO-GEO
Audit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/>
          </p:nvPr>
        </p:nvSpPr>
        <p:spPr>
          <a:xfrm>
            <a:off x="1097280" y="3492500"/>
            <a:ext cx="9144000" cy="889000"/>
          </a:xfrm>
        </p:spPr>
        <p:txBody>
          <a:bodyPr wrap="square"/>
          <a:lstStyle/>
          <a:p>
            <a:r>
              <a:rPr sz="1600" b="0">
                <a:solidFill>
                  <a:srgbClr val="8AA0B8"/>
                </a:solidFill>
              </a:rPr>
              <a:t>L'audit dual-signal — Google et les moteurs IA
(ChatGPT, Perplexity, Claude, Gemini, Copilot)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EAF4"/>
                </a:solidFill>
              </a:rPr>
              <a:t>11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d'analyse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EAF4"/>
                </a:solidFill>
              </a:rPr>
              <a:t>Score /100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actionnable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EAF4"/>
                </a:solidFill>
              </a:rPr>
              <a:t>&lt; 10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par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39" y="45720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2EAF4"/>
                </a:solidFill>
              </a:rPr>
              <a:t>White-label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39" y="50109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natif FR</a:t>
            </a:r>
          </a:p>
        </p:txBody>
      </p:sp>
    </p:spTree>
    <p:extLst>
      <p:ext uri="{BB962C8B-B14F-4D97-AF65-F5344CB8AC3E}">
        <p14:creationId xmlns:p14="http://schemas.microsoft.com/office/powerpoint/2010/main" val="1205746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>
            <a:normAutofit lnSpcReduction="10000"/>
          </a:bodyPr>
          <a:lstStyle/>
          <a:p>
            <a:r>
              <a:rPr sz="5600" b="1">
                <a:solidFill>
                  <a:srgbClr val="6366F1"/>
                </a:solidFill>
              </a:rP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 fontScale="90000"/>
          </a:bodyPr>
          <a:lstStyle/>
          <a:p>
            <a:r>
              <a:rPr sz="4400" b="1">
                <a:solidFill>
                  <a:srgbClr val="E2EAF4"/>
                </a:solidFill>
              </a:rPr>
              <a:t>Le marché
a basculé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1400" b="0">
                <a:solidFill>
                  <a:srgbClr val="8AA0B8"/>
                </a:solidFill>
              </a:rPr>
              <a:t>40 % des recherches d'information démarrent sur une IA. Les outils SEO classiques n'ont pas suivi.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/>
          <a:lstStyle/>
          <a:p>
            <a:r>
              <a:rPr sz="1000" b="1">
                <a:solidFill>
                  <a:srgbClr val="6366F1"/>
                </a:solidFill>
              </a:rPr>
              <a:t>CONTEXTE MARCHÉ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E2EAF4"/>
                </a:solidFill>
              </a:rPr>
              <a:t>4 signaux qui changent la donne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8AA0B8"/>
                </a:solidFill>
              </a:rPr>
              <a:t>40 %</a:t>
            </a:r>
            <a:r>
              <a:rPr sz="1200" b="0">
                <a:solidFill>
                  <a:srgbClr val="8AA0B8"/>
                </a:solidFill>
              </a:rPr>
              <a:t> des requêtes d'information démarrent sur une IA, pas sur Google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8AA0B8"/>
                </a:solidFill>
              </a:rPr>
              <a:t>3,6×</a:t>
            </a:r>
            <a:r>
              <a:rPr sz="1200" b="0">
                <a:solidFill>
                  <a:srgbClr val="8AA0B8"/>
                </a:solidFill>
              </a:rPr>
              <a:t> plus de crawls GPTBot vs Googlebot sur les sites analysés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8AA0B8"/>
                </a:solidFill>
              </a:rPr>
              <a:t>76 %</a:t>
            </a:r>
            <a:r>
              <a:rPr sz="1200" b="0">
                <a:solidFill>
                  <a:srgbClr val="8AA0B8"/>
                </a:solidFill>
              </a:rPr>
              <a:t> des citations IA portent sur des contenus de moins de 30 jours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8AA0B8"/>
                </a:solidFill>
              </a:rPr>
              <a:t>3-6 mois</a:t>
            </a:r>
            <a:r>
              <a:rPr sz="1200" b="0">
                <a:solidFill>
                  <a:srgbClr val="8AA0B8"/>
                </a:solidFill>
              </a:rPr>
              <a:t> — demi-vie d'une citation IA, plus courte qu'en SEO classique</a:t>
            </a:r>
          </a:p>
          <a:p>
            <a:pPr>
              <a:spcAft>
                <a:spcPts val="400"/>
              </a:spcAft>
            </a:pPr>
            <a:endParaRPr sz="12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8AA0B8"/>
                </a:solidFill>
              </a:rPr>
              <a:t>Résultat :</a:t>
            </a:r>
            <a:r>
              <a:rPr sz="1200" b="0">
                <a:solidFill>
                  <a:srgbClr val="8AA0B8"/>
                </a:solidFill>
              </a:rPr>
              <a:t> votre client perd simultanément du trafic organique ET de la visibilité dans les réponses IA. Les deux s'effondrent ensemble.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E2EAF4"/>
                </a:solidFill>
              </a:rPr>
              <a:t>SEO seul ou SEO + GEO 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Mesure :</a:t>
            </a:r>
            <a:r>
              <a:rPr sz="1100" b="0">
                <a:solidFill>
                  <a:srgbClr val="8AA0B8"/>
                </a:solidFill>
              </a:rPr>
              <a:t> positions Google uniquement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Ignore :</a:t>
            </a:r>
            <a:r>
              <a:rPr sz="1100" b="0">
                <a:solidFill>
                  <a:srgbClr val="8AA0B8"/>
                </a:solidFill>
              </a:rPr>
              <a:t> GPTBot, llms.txt, citations IA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Aveugle sur :</a:t>
            </a:r>
            <a:r>
              <a:rPr sz="1100" b="0">
                <a:solidFill>
                  <a:srgbClr val="8AA0B8"/>
                </a:solidFill>
              </a:rPr>
              <a:t> ChatGPT Search, Perplexity, Claude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Risque :</a:t>
            </a:r>
            <a:r>
              <a:rPr sz="1100" b="0">
                <a:solidFill>
                  <a:srgbClr val="8AA0B8"/>
                </a:solidFill>
              </a:rPr>
              <a:t> trafic organique en baisse sans explication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Outils :</a:t>
            </a:r>
            <a:r>
              <a:rPr sz="1100" b="0">
                <a:solidFill>
                  <a:srgbClr val="8AA0B8"/>
                </a:solidFill>
              </a:rPr>
              <a:t> Ahrefs, Semrush — conçus avant 2023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Résultat :</a:t>
            </a:r>
            <a:r>
              <a:rPr sz="1100" b="0">
                <a:solidFill>
                  <a:srgbClr val="8AA0B8"/>
                </a:solidFill>
              </a:rPr>
              <a:t> le client perd de la visibilité et ne sait pas pourquoi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Mesure :</a:t>
            </a:r>
            <a:r>
              <a:rPr sz="1100" b="0">
                <a:solidFill>
                  <a:srgbClr val="8AA0B8"/>
                </a:solidFill>
              </a:rPr>
              <a:t> Google ET les 5 grands moteurs IA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Analyse :</a:t>
            </a:r>
            <a:r>
              <a:rPr sz="1100" b="0">
                <a:solidFill>
                  <a:srgbClr val="8AA0B8"/>
                </a:solidFill>
              </a:rPr>
              <a:t> llms.txt, fichier robot IA, signaux de citation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Teste :</a:t>
            </a:r>
            <a:r>
              <a:rPr sz="1100" b="0">
                <a:solidFill>
                  <a:srgbClr val="8AA0B8"/>
                </a:solidFill>
              </a:rPr>
              <a:t> prompts réels sur ChatGPT, Perplexity, Claude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Identifie :</a:t>
            </a:r>
            <a:r>
              <a:rPr sz="1100" b="0">
                <a:solidFill>
                  <a:srgbClr val="8AA0B8"/>
                </a:solidFill>
              </a:rPr>
              <a:t> pourquoi une IA cite (ou ne cite pas) votre site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Rapport :</a:t>
            </a:r>
            <a:r>
              <a:rPr sz="1100" b="0">
                <a:solidFill>
                  <a:srgbClr val="8AA0B8"/>
                </a:solidFill>
              </a:rPr>
              <a:t> actionnable en français, livré en &lt; 10 min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8AA0B8"/>
                </a:solidFill>
              </a:rPr>
              <a:t>Résultat :</a:t>
            </a:r>
            <a:r>
              <a:rPr sz="1100" b="0">
                <a:solidFill>
                  <a:srgbClr val="8AA0B8"/>
                </a:solidFill>
              </a:rPr>
              <a:t> le client sait exactement quoi corriger pour remonter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</a:rPr>
              <a:t>AVANT — SEO CLASSIQUE SEULEMENT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9D353"/>
                </a:solidFill>
              </a:rPr>
              <a:t>APRÈS — AUDIT DUAL-SIGNAL SEO+GEO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>
            <a:normAutofit lnSpcReduction="10000"/>
          </a:bodyPr>
          <a:lstStyle/>
          <a:p>
            <a:r>
              <a:rPr sz="5600" b="1">
                <a:solidFill>
                  <a:srgbClr val="6366F1"/>
                </a:solidFill>
              </a:rP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 fontScale="90000"/>
          </a:bodyPr>
          <a:lstStyle/>
          <a:p>
            <a:r>
              <a:rPr sz="4400" b="1">
                <a:solidFill>
                  <a:srgbClr val="E2EAF4"/>
                </a:solidFill>
              </a:rPr>
              <a:t>L'Audit en
11 dimensions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1400" b="0">
                <a:solidFill>
                  <a:srgbClr val="8AA0B8"/>
                </a:solidFill>
              </a:rPr>
              <a:t>Score sur 100 pts · Rapport FR jargon-free · Moins de 10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/>
          <a:lstStyle/>
          <a:p>
            <a:r>
              <a:rPr sz="1000" b="1">
                <a:solidFill>
                  <a:srgbClr val="6366F1"/>
                </a:solidFill>
              </a:rPr>
              <a:t>LES 11 DIMENSIONS D'ANALYSE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E2EAF4"/>
                </a:solidFill>
              </a:rPr>
              <a:t>Ce qu'on mesure sur chaque site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01  Fondations techniques</a:t>
            </a:r>
            <a:r>
              <a:rPr sz="1000" b="0">
                <a:solidFill>
                  <a:srgbClr val="8AA0B8"/>
                </a:solidFill>
              </a:rPr>
              <a:t> 12 pts — URLs, HTTPS, robots.txt, sitemap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02  Données structurées</a:t>
            </a:r>
            <a:r>
              <a:rPr sz="1000" b="0">
                <a:solidFill>
                  <a:srgbClr val="8AA0B8"/>
                </a:solidFill>
              </a:rPr>
              <a:t> 15 pts — Schema.org, FAQ, Articles, Produits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03  Visibilité IA (GEO) ★</a:t>
            </a:r>
            <a:r>
              <a:rPr sz="1000" b="0">
                <a:solidFill>
                  <a:srgbClr val="8AA0B8"/>
                </a:solidFill>
              </a:rPr>
              <a:t> 18 pts — Tests ChatGPT/Perplexity, llms.txt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04  Entités &amp; notoriété</a:t>
            </a:r>
            <a:r>
              <a:rPr sz="1000" b="0">
                <a:solidFill>
                  <a:srgbClr val="8AA0B8"/>
                </a:solidFill>
              </a:rPr>
              <a:t> 10 pts — Knowledge Graph, Wikidata, mentions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05  E-E-A-T</a:t>
            </a:r>
            <a:r>
              <a:rPr sz="1000" b="0">
                <a:solidFill>
                  <a:srgbClr val="8AA0B8"/>
                </a:solidFill>
              </a:rPr>
              <a:t> 10 pts — Expertise, Autorité, Confiance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06  Fraîcheur</a:t>
            </a:r>
            <a:r>
              <a:rPr sz="1000" b="0">
                <a:solidFill>
                  <a:srgbClr val="8AA0B8"/>
                </a:solidFill>
              </a:rPr>
              <a:t> 8 pts  — 76 % citations IA = contenus &lt; 30j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07  International</a:t>
            </a:r>
            <a:r>
              <a:rPr sz="1000" b="0">
                <a:solidFill>
                  <a:srgbClr val="8AA0B8"/>
                </a:solidFill>
              </a:rPr>
              <a:t> 8 pts  — Hreflang, multilingue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08  Performance web</a:t>
            </a:r>
            <a:r>
              <a:rPr sz="1000" b="0">
                <a:solidFill>
                  <a:srgbClr val="8AA0B8"/>
                </a:solidFill>
              </a:rPr>
              <a:t> 8 pts  — Core Web Vitals, INP, LCP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09  Couverture thématique</a:t>
            </a:r>
            <a:r>
              <a:rPr sz="1000" b="0">
                <a:solidFill>
                  <a:srgbClr val="8AA0B8"/>
                </a:solidFill>
              </a:rPr>
              <a:t> 6 pts  — Pillar pages, clusters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10  Erreurs communes</a:t>
            </a:r>
            <a:r>
              <a:rPr sz="1000" b="0">
                <a:solidFill>
                  <a:srgbClr val="8AA0B8"/>
                </a:solidFill>
              </a:rPr>
              <a:t> 5 pts  — Cannibalisation, thin content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11  Synthèse</a:t>
            </a:r>
            <a:r>
              <a:rPr sz="1000" b="0">
                <a:solidFill>
                  <a:srgbClr val="8AA0B8"/>
                </a:solidFill>
              </a:rPr>
              <a:t> →      — Plan d'action priorisé bénéfice/effort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E2EAF4"/>
                </a:solidFill>
              </a:rPr>
              <a:t>La dimension la plus importante — GEO (18 pts)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Tests de prompts réels :</a:t>
            </a:r>
            <a:r>
              <a:rPr sz="1000" b="0">
                <a:solidFill>
                  <a:srgbClr val="8AA0B8"/>
                </a:solidFill>
              </a:rPr>
              <a:t> on demande à ChatGPT, Perplexity, Claude et Gemini de répondre aux requêtes de votre domaine. Apparaissez-vous dans les réponses ?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Fichier llms.txt :</a:t>
            </a:r>
            <a:r>
              <a:rPr sz="1000" b="0">
                <a:solidFill>
                  <a:srgbClr val="8AA0B8"/>
                </a:solidFill>
              </a:rPr>
              <a:t> l'équivalent du robots.txt pour les IA. Présent ? Correctement configuré ?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Analyse des citations :</a:t>
            </a:r>
            <a:r>
              <a:rPr sz="1000" b="0">
                <a:solidFill>
                  <a:srgbClr val="8AA0B8"/>
                </a:solidFill>
              </a:rPr>
              <a:t> votre marque est-elle citée par les sources que les IA utilisent — Wikipedia, Wikidata, presse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18 pts sur 100 :</a:t>
            </a:r>
            <a:r>
              <a:rPr sz="1000" b="0">
                <a:solidFill>
                  <a:srgbClr val="8AA0B8"/>
                </a:solidFill>
              </a:rPr>
              <a:t> c'est le poids le plus élevé de l'audit — plus que les fondations techniques (12) ou la performance (8).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Impact direct :</a:t>
            </a:r>
            <a:r>
              <a:rPr sz="1000" b="0">
                <a:solidFill>
                  <a:srgbClr val="8AA0B8"/>
                </a:solidFill>
              </a:rPr>
              <a:t> un site bien balisé pour les IA obtient +132 % de taux de citation dans les réponses GEO.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Fraîcheur :</a:t>
            </a:r>
            <a:r>
              <a:rPr sz="1000" b="0">
                <a:solidFill>
                  <a:srgbClr val="8AA0B8"/>
                </a:solidFill>
              </a:rPr>
              <a:t> 76 % des citations IA portent sur des contenus publiés dans les 30 derniers jours. La fraîcheur est un signal de ranking IA aussi important que l'autorité.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CE QUE ÇA TESTE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POURQUOI C'EST PRIORITAIRE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E2EAF4"/>
                </a:solidFill>
              </a:rPr>
              <a:t>Le rapport livré au client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Score sur 100 :</a:t>
            </a:r>
            <a:r>
              <a:rPr sz="1000" b="0">
                <a:solidFill>
                  <a:srgbClr val="8AA0B8"/>
                </a:solidFill>
              </a:rPr>
              <a:t> un chiffre unique, clair, comparable d'un audit à l'autre. Le client comprend immédiatement où il en est.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Détail par dimension :</a:t>
            </a:r>
            <a:r>
              <a:rPr sz="1000" b="0">
                <a:solidFill>
                  <a:srgbClr val="8AA0B8"/>
                </a:solidFill>
              </a:rPr>
              <a:t> score de chaque phase avec les findings les plus impactants.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Synthèse — 11ème dimension :</a:t>
            </a:r>
            <a:r>
              <a:rPr sz="1000" b="0">
                <a:solidFill>
                  <a:srgbClr val="8AA0B8"/>
                </a:solidFill>
              </a:rPr>
              <a:t> les 5 recommandations les plus impactantes, classées par rapport bénéfice / effort. Ce que le client doit faire en premier.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Stats sourcées :</a:t>
            </a:r>
            <a:r>
              <a:rPr sz="1000" b="0">
                <a:solidFill>
                  <a:srgbClr val="8AA0B8"/>
                </a:solidFill>
              </a:rPr>
              <a:t> chaque chiffre cité est traçable à une source consultée et datée.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Lien web partageable :</a:t>
            </a:r>
            <a:r>
              <a:rPr sz="1000" b="0">
                <a:solidFill>
                  <a:srgbClr val="8AA0B8"/>
                </a:solidFill>
              </a:rPr>
              <a:t> URL tokenisée, durée configurable. Le client clique, il voit le rapport depuis n'importe quel device.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Export PDF :</a:t>
            </a:r>
            <a:r>
              <a:rPr sz="1000" b="0">
                <a:solidFill>
                  <a:srgbClr val="8AA0B8"/>
                </a:solidFill>
              </a:rPr>
              <a:t> qualité impression, idéal pour réunions client et archivages contractuels.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White-label natif :</a:t>
            </a:r>
            <a:r>
              <a:rPr sz="1000" b="0">
                <a:solidFill>
                  <a:srgbClr val="8AA0B8"/>
                </a:solidFill>
              </a:rPr>
              <a:t> votre logo (ou celui de votre client). Zéro mention SEO-GEO dans le document livré.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Français, sans jargon :</a:t>
            </a:r>
            <a:r>
              <a:rPr sz="1000" b="0">
                <a:solidFill>
                  <a:srgbClr val="8AA0B8"/>
                </a:solidFill>
              </a:rPr>
              <a:t> rédigé pour être compris par un décideur non-technique. Pas de termes SEO obscurs.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LE SCORE &amp; LE PLAN D'ACTION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LE FORMAT DE LIVRAISON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E2EAF4"/>
                </a:solidFill>
              </a:rPr>
              <a:t>Deux façons de lancer un audit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Comment :</a:t>
            </a:r>
            <a:r>
              <a:rPr sz="1000" b="0">
                <a:solidFill>
                  <a:srgbClr val="8AA0B8"/>
                </a:solidFill>
              </a:rPr>
              <a:t> entrez l'URL d'un site en production. L'audit analyse le site tel que les moteurs le voient.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Couvre :</a:t>
            </a:r>
            <a:r>
              <a:rPr sz="1000" b="0">
                <a:solidFill>
                  <a:srgbClr val="8AA0B8"/>
                </a:solidFill>
              </a:rPr>
              <a:t> contenus visibles, performances réelles, signaux IA en live, robots.txt, sitemap.xml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Idéal pour :</a:t>
            </a:r>
            <a:r>
              <a:rPr sz="1000" b="0">
                <a:solidFill>
                  <a:srgbClr val="8AA0B8"/>
                </a:solidFill>
              </a:rPr>
              <a:t> audits clients sur sites existants, suivis trimestriels, prospection commerciale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→</a:t>
            </a:r>
            <a:r>
              <a:rPr sz="1000" b="0">
                <a:solidFill>
                  <a:srgbClr val="8AA0B8"/>
                </a:solidFill>
              </a:rPr>
              <a:t> Arrivez en RDV avec un rapport sous le nom du prospect.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Comment :</a:t>
            </a:r>
            <a:r>
              <a:rPr sz="1000" b="0">
                <a:solidFill>
                  <a:srgbClr val="8AA0B8"/>
                </a:solidFill>
              </a:rPr>
              <a:t> uploadez un ZIP ou connectez un repo GitHub. L'audit analyse le code avant mise en ligne.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Couvre :</a:t>
            </a:r>
            <a:r>
              <a:rPr sz="1000" b="0">
                <a:solidFill>
                  <a:srgbClr val="8AA0B8"/>
                </a:solidFill>
              </a:rPr>
              <a:t> structure des composants, balisage statique, schémas JSON-LD, configuration SEO dans le code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Idéal pour :</a:t>
            </a:r>
            <a:r>
              <a:rPr sz="1000" b="0">
                <a:solidFill>
                  <a:srgbClr val="8AA0B8"/>
                </a:solidFill>
              </a:rPr>
              <a:t> studios dev qui livrent un site optimisé dès le départ, audits de refonte, pre-launch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→</a:t>
            </a:r>
            <a:r>
              <a:rPr sz="1000" b="0">
                <a:solidFill>
                  <a:srgbClr val="8AA0B8"/>
                </a:solidFill>
              </a:rPr>
              <a:t> Livrez un asset mieux foutu à votre client — avec le rapport d'audit en preuve.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</a:rPr>
              <a:t>URL LIVE  (V1 — DISPONIBLE)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9D353"/>
                </a:solidFill>
              </a:rPr>
              <a:t>CODE SOURCE  (V2 — PROCHAINEMENT)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 wrap="square">
            <a:normAutofit lnSpcReduction="10000"/>
          </a:bodyPr>
          <a:lstStyle/>
          <a:p>
            <a:r>
              <a:rPr sz="5600" b="1">
                <a:solidFill>
                  <a:srgbClr val="6366F1"/>
                </a:solidFill>
              </a:rP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 fontScale="90000"/>
          </a:bodyPr>
          <a:lstStyle/>
          <a:p>
            <a:r>
              <a:rPr sz="4400" b="1">
                <a:solidFill>
                  <a:srgbClr val="E2EAF4"/>
                </a:solidFill>
              </a:rPr>
              <a:t>Pour qui
et combien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1400" b="0">
                <a:solidFill>
                  <a:srgbClr val="8AA0B8"/>
                </a:solidFill>
              </a:rPr>
              <a:t>3 personas · 6 packages · De 1 500 € à 15 000 €/mois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E2EAF4"/>
                </a:solidFill>
              </a:rPr>
              <a:t>Pour qui et combien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Agence SEO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5-30 pers. Veut ajouter une offre GEO sans recruter. Offre : SEO+GEO Add-on (+25 %) ou White-label (-40 %).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Directeur marketing B2B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19456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Trafic organique qui stagne. Veut comprendre pourquoi ses concurrents apparaissent dans Perplexity. Offre : Tripwire 1 500-3 500 € → Retainer.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8288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82F6"/>
                </a:solidFill>
              </a:rPr>
              <a:t>Studio dev / Freelance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19456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Livre des sites clients. Veut auditer avant release (V2 code source). Offre : Tripwire par projet ou White-label.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</a:rPr>
              <a:t>Tripwire 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1 500–3 500 € one-shot. Audit 11 dimensions + debrief 1h. Livraison 3-5 jours. Taux de conversion cible &gt; 35 %.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206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Retainer Starter/Growth/Enterprise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5720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2 500–15 000 €/mois. Mensuel ou trimestriel. Starter 3 mois / Growth 6 mois / Enterprise 12 mois. Tracking continu inclus en Growth+.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206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</a:rPr>
              <a:t>White-label &amp; Add-on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5720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A0B8"/>
                </a:solidFill>
              </a:rPr>
              <a:t>White-label : wholesale -40 à -60 %. SEO+GEO Add-on : +25 % sur retainer SEO existant. Exécution sous la marque de l'agence partenaire.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E2EAF4"/>
                </a:solidFill>
              </a:rPr>
              <a:t>Agency Tool V1 → Self-serve SaaS V2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Dashboard interne :</a:t>
            </a:r>
            <a:r>
              <a:rPr sz="1000" b="0">
                <a:solidFill>
                  <a:srgbClr val="8AA0B8"/>
                </a:solidFill>
              </a:rPr>
              <a:t> Olivier lance et suit les audits. Le client reçoit uniquement le rapport.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Audit URL live :</a:t>
            </a:r>
            <a:r>
              <a:rPr sz="1000" b="0">
                <a:solidFill>
                  <a:srgbClr val="8AA0B8"/>
                </a:solidFill>
              </a:rPr>
              <a:t> 11 dimensions, score 100 pts, &lt; 10 min.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Rapport white-label :</a:t>
            </a:r>
            <a:r>
              <a:rPr sz="1000" b="0">
                <a:solidFill>
                  <a:srgbClr val="8AA0B8"/>
                </a:solidFill>
              </a:rPr>
              <a:t> web partageable + PDF, en français.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Pricing à la prestation :</a:t>
            </a:r>
            <a:r>
              <a:rPr sz="1000" b="0">
                <a:solidFill>
                  <a:srgbClr val="8AA0B8"/>
                </a:solidFill>
              </a:rPr>
              <a:t> tripwire + retainer.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8AA0B8"/>
                </a:solidFill>
              </a:rPr>
              <a:t>Objectif 90 jours :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→</a:t>
            </a:r>
            <a:r>
              <a:rPr sz="1000" b="0">
                <a:solidFill>
                  <a:srgbClr val="8AA0B8"/>
                </a:solidFill>
              </a:rPr>
              <a:t> 10+ audits livrés à de vrais clients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→</a:t>
            </a:r>
            <a:r>
              <a:rPr sz="1000" b="0">
                <a:solidFill>
                  <a:srgbClr val="8AA0B8"/>
                </a:solidFill>
              </a:rPr>
              <a:t> 3+ conversions tripwire → retainer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→</a:t>
            </a:r>
            <a:r>
              <a:rPr sz="1000" b="0">
                <a:solidFill>
                  <a:srgbClr val="8AA0B8"/>
                </a:solidFill>
              </a:rPr>
              <a:t> CSAT ≥ 4.3/5 sur les rapports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Signup public :</a:t>
            </a:r>
            <a:r>
              <a:rPr sz="1000" b="0">
                <a:solidFill>
                  <a:srgbClr val="8AA0B8"/>
                </a:solidFill>
              </a:rPr>
              <a:t> inscription directe, onboarding automatisé.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Dashboard client :</a:t>
            </a:r>
            <a:r>
              <a:rPr sz="1000" b="0">
                <a:solidFill>
                  <a:srgbClr val="8AA0B8"/>
                </a:solidFill>
              </a:rPr>
              <a:t> historique audits, comparaison, KPI continu.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Plans Stripe :</a:t>
            </a:r>
            <a:r>
              <a:rPr sz="1000" b="0">
                <a:solidFill>
                  <a:srgbClr val="8AA0B8"/>
                </a:solidFill>
              </a:rPr>
              <a:t> Free (1/mois) · Pro (10/mois) · Agence (illimité).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Code source :</a:t>
            </a:r>
            <a:r>
              <a:rPr sz="1000" b="0">
                <a:solidFill>
                  <a:srgbClr val="8AA0B8"/>
                </a:solidFill>
              </a:rPr>
              <a:t> upload ZIP + GitHub connect, audit pre-launch.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Alertes :</a:t>
            </a:r>
            <a:r>
              <a:rPr sz="1000" b="0">
                <a:solidFill>
                  <a:srgbClr val="8AA0B8"/>
                </a:solidFill>
              </a:rPr>
              <a:t> notification automatique si score régressé.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8AA0B8"/>
              </a:solidFill>
            </a:endParaRP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8AA0B8"/>
                </a:solidFill>
              </a:rPr>
              <a:t>Métriques V2 :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→</a:t>
            </a:r>
            <a:r>
              <a:rPr sz="1000" b="0">
                <a:solidFill>
                  <a:srgbClr val="8AA0B8"/>
                </a:solidFill>
              </a:rPr>
              <a:t> ≥ 50 signups/mois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8AA0B8"/>
                </a:solidFill>
              </a:rPr>
              <a:t>→</a:t>
            </a:r>
            <a:r>
              <a:rPr sz="1000" b="0">
                <a:solidFill>
                  <a:srgbClr val="8AA0B8"/>
                </a:solidFill>
              </a:rPr>
              <a:t> ≥ 10 % conversion Free →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MAINTENANT — V1 AGENCY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8288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PROCHAINEMENT — V2 SELF-SERVE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rmAutofit fontScale="90000"/>
          </a:bodyPr>
          <a:lstStyle/>
          <a:p>
            <a:r>
              <a:rPr sz="4800" b="1">
                <a:solidFill>
                  <a:srgbClr val="E2EAF4"/>
                </a:solidFill>
              </a:rPr>
              <a:t>Prêt à lancer
le premier audit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1200" b="0">
                <a:solidFill>
                  <a:srgbClr val="8AA0B8"/>
                </a:solidFill>
              </a:rPr>
              <a:t>wyzlee.com / olivier.podio@gmail.com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/>
        <p:txBody>
          <a:bodyPr wrap="square">
            <a:normAutofit fontScale="92500"/>
          </a:bodyPr>
          <a:lstStyle/>
          <a:p>
            <a:r>
              <a:rPr sz="1600" b="0">
                <a:solidFill>
                  <a:srgbClr val="8AA0B8"/>
                </a:solidFill>
              </a:rPr>
              <a:t>Entrez une URL. Obtenez un rapport complet en moins de 10 minutes.
White-label, en français, livrable client immédiatement.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76529858215]">
  <a:themeElements>
    <a:clrScheme name="Wyzlee">
      <a:dk1>
        <a:srgbClr val="E2EAF4"/>
      </a:dk1>
      <a:lt1>
        <a:srgbClr val="111820"/>
      </a:lt1>
      <a:dk2>
        <a:srgbClr val="C8D5E1"/>
      </a:dk2>
      <a:lt2>
        <a:srgbClr val="080C10"/>
      </a:lt2>
      <a:accent1>
        <a:srgbClr val="6366F1"/>
      </a:accent1>
      <a:accent2>
        <a:srgbClr val="8B5CF6"/>
      </a:accent2>
      <a:accent3>
        <a:srgbClr val="10B981"/>
      </a:accent3>
      <a:accent4>
        <a:srgbClr val="F59E0B"/>
      </a:accent4>
      <a:accent5>
        <a:srgbClr val="3882F6"/>
      </a:accent5>
      <a:accent6>
        <a:srgbClr val="EF4444"/>
      </a:accent6>
      <a:hlink>
        <a:srgbClr val="6366F1"/>
      </a:hlink>
      <a:folHlink>
        <a:srgbClr val="8B5CF6"/>
      </a:folHlink>
    </a:clrScheme>
    <a:fontScheme name="Wyzlee">
      <a:majorFont>
        <a:latin typeface="Cabinet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ra Cod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046AF1-85DA-324E-8A4D-779D3EA0B2B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7180317e-e763-4aa4-89a5-8618e2d4b22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1380</Words>
  <Application>Microsoft Macintosh PowerPoint</Application>
  <PresentationFormat>Grand écran</PresentationFormat>
  <Paragraphs>142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Cabinet Grotesk</vt:lpstr>
      <vt:lpstr>Fira Code</vt:lpstr>
      <vt:lpstr>Office Theme [1776529858215]</vt:lpstr>
      <vt:lpstr>SEO-GEO
Audit</vt:lpstr>
      <vt:lpstr>Le marché
a basculé</vt:lpstr>
      <vt:lpstr>4 signaux qui changent la donne</vt:lpstr>
      <vt:lpstr>SEO seul ou SEO + GEO ?</vt:lpstr>
      <vt:lpstr>L'Audit en
11 dimensions</vt:lpstr>
      <vt:lpstr>Ce qu'on mesure sur chaque site</vt:lpstr>
      <vt:lpstr>La dimension la plus importante — GEO (18 pts)</vt:lpstr>
      <vt:lpstr>Le rapport livré au client</vt:lpstr>
      <vt:lpstr>Deux façons de lancer un audit</vt:lpstr>
      <vt:lpstr>Pour qui
et combien ?</vt:lpstr>
      <vt:lpstr>Pour qui et combien ?</vt:lpstr>
      <vt:lpstr>Agency Tool V1 → Self-serve SaaS V2</vt:lpstr>
      <vt:lpstr>Prêt à lancer
le premier audit 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PODIO Olivier (TEAMWORK)</cp:lastModifiedBy>
  <cp:revision>4</cp:revision>
  <dcterms:created xsi:type="dcterms:W3CDTF">2013-01-27T09:14:16Z</dcterms:created>
  <dcterms:modified xsi:type="dcterms:W3CDTF">2026-04-18T16:32:52Z</dcterms:modified>
  <cp:category/>
</cp:coreProperties>
</file>